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Raleway"/>
      <p:regular r:id="rId23"/>
      <p:bold r:id="rId24"/>
      <p:italic r:id="rId25"/>
      <p:boldItalic r:id="rId26"/>
    </p:embeddedFont>
    <p:embeddedFont>
      <p:font typeface="La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BCDEBF0-7099-4F6A-AFAA-993424241E1B}">
  <a:tblStyle styleId="{3BCDEBF0-7099-4F6A-AFAA-993424241E1B}"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56B4657-5565-4E60-9A1F-7A006B6F004B}" styleName="Table_1">
    <a:wholeTbl>
      <a:tcTxStyle>
        <a:font>
          <a:latin typeface="Arial"/>
          <a:ea typeface="Arial"/>
          <a:cs typeface="Arial"/>
        </a:font>
        <a:srgbClr val="000000"/>
      </a:tcTxStyle>
      <a:tcStyle>
        <a:tcBdr>
          <a:left>
            <a:ln cap="flat" cmpd="sng" w="6350">
              <a:solidFill>
                <a:srgbClr val="000000"/>
              </a:solidFill>
              <a:prstDash val="solid"/>
              <a:round/>
              <a:headEnd len="sm" w="sm" type="none"/>
              <a:tailEnd len="sm" w="sm" type="none"/>
            </a:ln>
          </a:left>
          <a:right>
            <a:ln cap="flat" cmpd="sng" w="6350">
              <a:solidFill>
                <a:srgbClr val="000000"/>
              </a:solidFill>
              <a:prstDash val="solid"/>
              <a:round/>
              <a:headEnd len="sm" w="sm" type="none"/>
              <a:tailEnd len="sm" w="sm" type="none"/>
            </a:ln>
          </a:right>
          <a:top>
            <a:ln cap="flat" cmpd="sng" w="6350">
              <a:solidFill>
                <a:srgbClr val="000000"/>
              </a:solidFill>
              <a:prstDash val="solid"/>
              <a:round/>
              <a:headEnd len="sm" w="sm" type="none"/>
              <a:tailEnd len="sm" w="sm" type="none"/>
            </a:ln>
          </a:top>
          <a:bottom>
            <a:ln cap="flat" cmpd="sng" w="6350">
              <a:solidFill>
                <a:srgbClr val="000000"/>
              </a:solidFill>
              <a:prstDash val="solid"/>
              <a:round/>
              <a:headEnd len="sm" w="sm" type="none"/>
              <a:tailEnd len="sm" w="sm" type="none"/>
            </a:ln>
          </a:bottom>
          <a:insideH>
            <a:ln cap="flat" cmpd="sng" w="6350">
              <a:solidFill>
                <a:srgbClr val="000000"/>
              </a:solidFill>
              <a:prstDash val="solid"/>
              <a:round/>
              <a:headEnd len="sm" w="sm" type="none"/>
              <a:tailEnd len="sm" w="sm" type="none"/>
            </a:ln>
          </a:insideH>
          <a:insideV>
            <a:ln cap="flat" cmpd="sng" w="635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aleway-bold.fntdata"/><Relationship Id="rId23" Type="http://schemas.openxmlformats.org/officeDocument/2006/relationships/font" Target="fonts/Raleway-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aleway-boldItalic.fntdata"/><Relationship Id="rId25" Type="http://schemas.openxmlformats.org/officeDocument/2006/relationships/font" Target="fonts/Raleway-italic.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Lat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aw.githubusercontent.com/csbfx/cs133/main/world_happiness_2005-2021.csv"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5f6af9d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5f6af9d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Clipnote , problem, strategy throughout, details of changing data or preprocessing, questions we had and what we got, general takeaway from the data, what would you recommend to tweak ml model for more accuracy</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51d9112a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51d9112a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a:p>
            <a:pPr indent="-317500" lvl="0" marL="457200" rtl="0" algn="l">
              <a:spcBef>
                <a:spcPts val="0"/>
              </a:spcBef>
              <a:spcAft>
                <a:spcPts val="0"/>
              </a:spcAft>
              <a:buSzPts val="1400"/>
              <a:buChar char="●"/>
            </a:pPr>
            <a:r>
              <a:rPr lang="en"/>
              <a:t>Mental health and well being is a lot more prioritzed and gaining attention</a:t>
            </a:r>
            <a:endParaRPr/>
          </a:p>
          <a:p>
            <a:pPr indent="0" lvl="0" marL="457200" rtl="0" algn="l">
              <a:spcBef>
                <a:spcPts val="0"/>
              </a:spcBef>
              <a:spcAft>
                <a:spcPts val="0"/>
              </a:spcAft>
              <a:buNone/>
            </a:pPr>
            <a:r>
              <a:rPr lang="en"/>
              <a:t>Therefore we are analyzing happiness through the various factors like economic, social, emotional, and political like how much one has trust in their government</a:t>
            </a:r>
            <a:endParaRPr/>
          </a:p>
          <a:p>
            <a:pPr indent="0" lvl="0" marL="457200" rtl="0" algn="l">
              <a:spcBef>
                <a:spcPts val="0"/>
              </a:spcBef>
              <a:spcAft>
                <a:spcPts val="0"/>
              </a:spcAft>
              <a:buNone/>
            </a:pPr>
            <a:r>
              <a:rPr lang="en"/>
              <a:t>Research and analysis on this data can be used to improve societal and public infrastructures</a:t>
            </a:r>
            <a:endParaRPr/>
          </a:p>
          <a:p>
            <a:pPr indent="0" lvl="0" marL="457200" rtl="0" algn="l">
              <a:spcBef>
                <a:spcPts val="0"/>
              </a:spcBef>
              <a:spcAft>
                <a:spcPts val="0"/>
              </a:spcAft>
              <a:buNone/>
            </a:pPr>
            <a:r>
              <a:rPr lang="en"/>
              <a:t>And </a:t>
            </a:r>
            <a:r>
              <a:rPr lang="en"/>
              <a:t>Such factors can be taken into consideration for future global development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54b8d718ad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54b8d718ad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t/>
            </a:r>
            <a:endParaRPr b="1" sz="1200">
              <a:solidFill>
                <a:srgbClr val="1A9988"/>
              </a:solidFill>
              <a:latin typeface="Lato"/>
              <a:ea typeface="Lato"/>
              <a:cs typeface="Lato"/>
              <a:sym typeface="Lato"/>
            </a:endParaRPr>
          </a:p>
          <a:p>
            <a:pPr indent="-304800" lvl="0" marL="457200" rtl="0" algn="l">
              <a:lnSpc>
                <a:spcPct val="150000"/>
              </a:lnSpc>
              <a:spcBef>
                <a:spcPts val="1200"/>
              </a:spcBef>
              <a:spcAft>
                <a:spcPts val="0"/>
              </a:spcAft>
              <a:buClr>
                <a:srgbClr val="1A9988"/>
              </a:buClr>
              <a:buSzPts val="1200"/>
              <a:buFont typeface="Lato"/>
              <a:buChar char="●"/>
            </a:pPr>
            <a:r>
              <a:rPr lang="en" u="sng">
                <a:solidFill>
                  <a:srgbClr val="1155CC"/>
                </a:solidFill>
                <a:hlinkClick r:id="rId2">
                  <a:extLst>
                    <a:ext uri="{A12FA001-AC4F-418D-AE19-62706E023703}">
                      <ahyp:hlinkClr val="tx"/>
                    </a:ext>
                  </a:extLst>
                </a:hlinkClick>
              </a:rPr>
              <a:t>https://raw.githubusercontent.com/csbfx/cs133/main/world_happiness_2005-2021.csv</a:t>
            </a:r>
            <a:r>
              <a:rPr lang="en">
                <a:solidFill>
                  <a:schemeClr val="dk1"/>
                </a:solidFill>
              </a:rPr>
              <a:t> </a:t>
            </a:r>
            <a:endParaRPr>
              <a:solidFill>
                <a:schemeClr val="dk1"/>
              </a:solidFill>
            </a:endParaRPr>
          </a:p>
          <a:p>
            <a:pPr indent="-304800" lvl="0" marL="457200" rtl="0" algn="l">
              <a:lnSpc>
                <a:spcPct val="150000"/>
              </a:lnSpc>
              <a:spcBef>
                <a:spcPts val="0"/>
              </a:spcBef>
              <a:spcAft>
                <a:spcPts val="0"/>
              </a:spcAft>
              <a:buClr>
                <a:srgbClr val="1A9988"/>
              </a:buClr>
              <a:buSzPts val="1200"/>
              <a:buFont typeface="Lato"/>
              <a:buChar char="●"/>
            </a:pPr>
            <a:r>
              <a:rPr b="1" lang="en" sz="1200">
                <a:solidFill>
                  <a:srgbClr val="1A9988"/>
                </a:solidFill>
                <a:latin typeface="Lato"/>
                <a:ea typeface="Lato"/>
                <a:cs typeface="Lato"/>
                <a:sym typeface="Lato"/>
              </a:rPr>
              <a:t>2,089 records and 12 columns, covering various economic, social, and emotional well-being indicators</a:t>
            </a:r>
            <a:endParaRPr b="1" sz="1200">
              <a:solidFill>
                <a:srgbClr val="1A9988"/>
              </a:solidFill>
              <a:latin typeface="Lato"/>
              <a:ea typeface="Lato"/>
              <a:cs typeface="Lato"/>
              <a:sym typeface="Lato"/>
            </a:endParaRPr>
          </a:p>
          <a:p>
            <a:pPr indent="-304800" lvl="1" marL="914400" rtl="0" algn="l">
              <a:lnSpc>
                <a:spcPct val="150000"/>
              </a:lnSpc>
              <a:spcBef>
                <a:spcPts val="0"/>
              </a:spcBef>
              <a:spcAft>
                <a:spcPts val="0"/>
              </a:spcAft>
              <a:buClr>
                <a:srgbClr val="1A9988"/>
              </a:buClr>
              <a:buSzPts val="1200"/>
              <a:buFont typeface="Lato"/>
              <a:buAutoNum type="alphaLcPeriod"/>
            </a:pPr>
            <a:r>
              <a:rPr b="1" lang="en" sz="1200">
                <a:solidFill>
                  <a:srgbClr val="1A9988"/>
                </a:solidFill>
                <a:latin typeface="Lato"/>
                <a:ea typeface="Lato"/>
                <a:cs typeface="Lato"/>
                <a:sym typeface="Lato"/>
              </a:rPr>
              <a:t>Country</a:t>
            </a:r>
            <a:endParaRPr b="1" sz="1200">
              <a:solidFill>
                <a:srgbClr val="1A9988"/>
              </a:solidFill>
              <a:latin typeface="Lato"/>
              <a:ea typeface="Lato"/>
              <a:cs typeface="Lato"/>
              <a:sym typeface="Lato"/>
            </a:endParaRPr>
          </a:p>
          <a:p>
            <a:pPr indent="-304800" lvl="1" marL="914400" rtl="0" algn="l">
              <a:lnSpc>
                <a:spcPct val="150000"/>
              </a:lnSpc>
              <a:spcBef>
                <a:spcPts val="0"/>
              </a:spcBef>
              <a:spcAft>
                <a:spcPts val="0"/>
              </a:spcAft>
              <a:buClr>
                <a:srgbClr val="1A9988"/>
              </a:buClr>
              <a:buSzPts val="1200"/>
              <a:buFont typeface="Lato"/>
              <a:buAutoNum type="alphaLcPeriod"/>
            </a:pPr>
            <a:r>
              <a:rPr b="1" lang="en" sz="1200">
                <a:solidFill>
                  <a:srgbClr val="1A9988"/>
                </a:solidFill>
                <a:latin typeface="Lato"/>
                <a:ea typeface="Lato"/>
                <a:cs typeface="Lato"/>
                <a:sym typeface="Lato"/>
              </a:rPr>
              <a:t>Year</a:t>
            </a:r>
            <a:endParaRPr b="1" sz="1200">
              <a:solidFill>
                <a:srgbClr val="1A9988"/>
              </a:solidFill>
              <a:latin typeface="Lato"/>
              <a:ea typeface="Lato"/>
              <a:cs typeface="Lato"/>
              <a:sym typeface="Lato"/>
            </a:endParaRPr>
          </a:p>
          <a:p>
            <a:pPr indent="-304800" lvl="1" marL="914400" rtl="0" algn="l">
              <a:lnSpc>
                <a:spcPct val="150000"/>
              </a:lnSpc>
              <a:spcBef>
                <a:spcPts val="0"/>
              </a:spcBef>
              <a:spcAft>
                <a:spcPts val="0"/>
              </a:spcAft>
              <a:buClr>
                <a:srgbClr val="1A9988"/>
              </a:buClr>
              <a:buSzPts val="1200"/>
              <a:buFont typeface="Lato"/>
              <a:buAutoNum type="alphaLcPeriod"/>
            </a:pPr>
            <a:r>
              <a:rPr b="1" lang="en" sz="1200">
                <a:solidFill>
                  <a:srgbClr val="1A9988"/>
                </a:solidFill>
                <a:latin typeface="Lato"/>
                <a:ea typeface="Lato"/>
                <a:cs typeface="Lato"/>
                <a:sym typeface="Lato"/>
              </a:rPr>
              <a:t>Happiness</a:t>
            </a:r>
            <a:endParaRPr b="1" sz="1200">
              <a:solidFill>
                <a:srgbClr val="1A9988"/>
              </a:solidFill>
              <a:latin typeface="Lato"/>
              <a:ea typeface="Lato"/>
              <a:cs typeface="Lato"/>
              <a:sym typeface="Lato"/>
            </a:endParaRPr>
          </a:p>
          <a:p>
            <a:pPr indent="-304800" lvl="1" marL="914400" rtl="0" algn="l">
              <a:lnSpc>
                <a:spcPct val="150000"/>
              </a:lnSpc>
              <a:spcBef>
                <a:spcPts val="0"/>
              </a:spcBef>
              <a:spcAft>
                <a:spcPts val="0"/>
              </a:spcAft>
              <a:buClr>
                <a:srgbClr val="1A9988"/>
              </a:buClr>
              <a:buSzPts val="1200"/>
              <a:buFont typeface="Lato"/>
              <a:buAutoNum type="alphaLcPeriod"/>
            </a:pPr>
            <a:r>
              <a:rPr b="1" lang="en" sz="1200">
                <a:solidFill>
                  <a:srgbClr val="1A9988"/>
                </a:solidFill>
                <a:latin typeface="Lato"/>
                <a:ea typeface="Lato"/>
                <a:cs typeface="Lato"/>
                <a:sym typeface="Lato"/>
              </a:rPr>
              <a:t>Wealth</a:t>
            </a:r>
            <a:endParaRPr b="1" sz="1200">
              <a:solidFill>
                <a:srgbClr val="1A9988"/>
              </a:solidFill>
              <a:latin typeface="Lato"/>
              <a:ea typeface="Lato"/>
              <a:cs typeface="Lato"/>
              <a:sym typeface="Lato"/>
            </a:endParaRPr>
          </a:p>
          <a:p>
            <a:pPr indent="-304800" lvl="1" marL="914400" rtl="0" algn="l">
              <a:lnSpc>
                <a:spcPct val="150000"/>
              </a:lnSpc>
              <a:spcBef>
                <a:spcPts val="0"/>
              </a:spcBef>
              <a:spcAft>
                <a:spcPts val="0"/>
              </a:spcAft>
              <a:buClr>
                <a:srgbClr val="1A9988"/>
              </a:buClr>
              <a:buSzPts val="1200"/>
              <a:buFont typeface="Lato"/>
              <a:buAutoNum type="alphaLcPeriod"/>
            </a:pPr>
            <a:r>
              <a:rPr b="1" lang="en" sz="1200">
                <a:solidFill>
                  <a:srgbClr val="1A9988"/>
                </a:solidFill>
                <a:latin typeface="Lato"/>
                <a:ea typeface="Lato"/>
                <a:cs typeface="Lato"/>
                <a:sym typeface="Lato"/>
              </a:rPr>
              <a:t>Social Support</a:t>
            </a:r>
            <a:endParaRPr b="1" sz="1200">
              <a:solidFill>
                <a:srgbClr val="1A9988"/>
              </a:solidFill>
              <a:latin typeface="Lato"/>
              <a:ea typeface="Lato"/>
              <a:cs typeface="Lato"/>
              <a:sym typeface="Lato"/>
            </a:endParaRPr>
          </a:p>
          <a:p>
            <a:pPr indent="-304800" lvl="1" marL="914400" rtl="0" algn="l">
              <a:lnSpc>
                <a:spcPct val="150000"/>
              </a:lnSpc>
              <a:spcBef>
                <a:spcPts val="0"/>
              </a:spcBef>
              <a:spcAft>
                <a:spcPts val="0"/>
              </a:spcAft>
              <a:buClr>
                <a:srgbClr val="1A9988"/>
              </a:buClr>
              <a:buSzPts val="1200"/>
              <a:buFont typeface="Lato"/>
              <a:buAutoNum type="alphaLcPeriod"/>
            </a:pPr>
            <a:r>
              <a:rPr b="1" lang="en" sz="1200">
                <a:solidFill>
                  <a:srgbClr val="1A9988"/>
                </a:solidFill>
                <a:latin typeface="Lato"/>
                <a:ea typeface="Lato"/>
                <a:cs typeface="Lato"/>
                <a:sym typeface="Lato"/>
              </a:rPr>
              <a:t>Life Expectancy</a:t>
            </a:r>
            <a:endParaRPr b="1" sz="1200">
              <a:solidFill>
                <a:srgbClr val="1A9988"/>
              </a:solidFill>
              <a:latin typeface="Lato"/>
              <a:ea typeface="Lato"/>
              <a:cs typeface="Lato"/>
              <a:sym typeface="Lato"/>
            </a:endParaRPr>
          </a:p>
          <a:p>
            <a:pPr indent="-304800" lvl="1" marL="914400" rtl="0" algn="l">
              <a:lnSpc>
                <a:spcPct val="150000"/>
              </a:lnSpc>
              <a:spcBef>
                <a:spcPts val="0"/>
              </a:spcBef>
              <a:spcAft>
                <a:spcPts val="0"/>
              </a:spcAft>
              <a:buClr>
                <a:srgbClr val="1A9988"/>
              </a:buClr>
              <a:buSzPts val="1200"/>
              <a:buFont typeface="Lato"/>
              <a:buAutoNum type="alphaLcPeriod"/>
            </a:pPr>
            <a:r>
              <a:rPr b="1" lang="en" sz="1200">
                <a:solidFill>
                  <a:srgbClr val="1A9988"/>
                </a:solidFill>
                <a:latin typeface="Lato"/>
                <a:ea typeface="Lato"/>
                <a:cs typeface="Lato"/>
                <a:sym typeface="Lato"/>
              </a:rPr>
              <a:t>Freedom</a:t>
            </a:r>
            <a:endParaRPr b="1" sz="1200">
              <a:solidFill>
                <a:srgbClr val="1A9988"/>
              </a:solidFill>
              <a:latin typeface="Lato"/>
              <a:ea typeface="Lato"/>
              <a:cs typeface="Lato"/>
              <a:sym typeface="Lato"/>
            </a:endParaRPr>
          </a:p>
          <a:p>
            <a:pPr indent="-304800" lvl="1" marL="914400" rtl="0" algn="l">
              <a:lnSpc>
                <a:spcPct val="150000"/>
              </a:lnSpc>
              <a:spcBef>
                <a:spcPts val="0"/>
              </a:spcBef>
              <a:spcAft>
                <a:spcPts val="0"/>
              </a:spcAft>
              <a:buClr>
                <a:srgbClr val="1A9988"/>
              </a:buClr>
              <a:buSzPts val="1200"/>
              <a:buFont typeface="Lato"/>
              <a:buAutoNum type="alphaLcPeriod"/>
            </a:pPr>
            <a:r>
              <a:rPr b="1" lang="en" sz="1200">
                <a:solidFill>
                  <a:srgbClr val="1A9988"/>
                </a:solidFill>
                <a:latin typeface="Lato"/>
                <a:ea typeface="Lato"/>
                <a:cs typeface="Lato"/>
                <a:sym typeface="Lato"/>
              </a:rPr>
              <a:t>Generosity</a:t>
            </a:r>
            <a:endParaRPr b="1" sz="1200">
              <a:solidFill>
                <a:srgbClr val="1A9988"/>
              </a:solidFill>
              <a:latin typeface="Lato"/>
              <a:ea typeface="Lato"/>
              <a:cs typeface="Lato"/>
              <a:sym typeface="Lato"/>
            </a:endParaRPr>
          </a:p>
          <a:p>
            <a:pPr indent="-304800" lvl="1" marL="914400" rtl="0" algn="l">
              <a:lnSpc>
                <a:spcPct val="150000"/>
              </a:lnSpc>
              <a:spcBef>
                <a:spcPts val="0"/>
              </a:spcBef>
              <a:spcAft>
                <a:spcPts val="0"/>
              </a:spcAft>
              <a:buClr>
                <a:srgbClr val="1A9988"/>
              </a:buClr>
              <a:buSzPts val="1200"/>
              <a:buFont typeface="Lato"/>
              <a:buAutoNum type="alphaLcPeriod"/>
            </a:pPr>
            <a:r>
              <a:rPr b="1" lang="en" sz="1200">
                <a:solidFill>
                  <a:srgbClr val="1A9988"/>
                </a:solidFill>
                <a:latin typeface="Lato"/>
                <a:ea typeface="Lato"/>
                <a:cs typeface="Lato"/>
                <a:sym typeface="Lato"/>
              </a:rPr>
              <a:t>Perceived Corruption</a:t>
            </a:r>
            <a:endParaRPr b="1" sz="1200">
              <a:solidFill>
                <a:srgbClr val="1A9988"/>
              </a:solidFill>
              <a:latin typeface="Lato"/>
              <a:ea typeface="Lato"/>
              <a:cs typeface="Lato"/>
              <a:sym typeface="Lato"/>
            </a:endParaRPr>
          </a:p>
          <a:p>
            <a:pPr indent="-304800" lvl="1" marL="914400" rtl="0" algn="l">
              <a:lnSpc>
                <a:spcPct val="150000"/>
              </a:lnSpc>
              <a:spcBef>
                <a:spcPts val="0"/>
              </a:spcBef>
              <a:spcAft>
                <a:spcPts val="0"/>
              </a:spcAft>
              <a:buClr>
                <a:srgbClr val="1A9988"/>
              </a:buClr>
              <a:buSzPts val="1200"/>
              <a:buFont typeface="Lato"/>
              <a:buAutoNum type="alphaLcPeriod"/>
            </a:pPr>
            <a:r>
              <a:rPr b="1" lang="en" sz="1200">
                <a:solidFill>
                  <a:srgbClr val="1A9988"/>
                </a:solidFill>
                <a:latin typeface="Lato"/>
                <a:ea typeface="Lato"/>
                <a:cs typeface="Lato"/>
                <a:sym typeface="Lato"/>
              </a:rPr>
              <a:t>Positive Affect - frequency of positive emotions such as happiness, laughter, and enjoyment based on survey responses. </a:t>
            </a:r>
            <a:endParaRPr b="1" sz="1200">
              <a:solidFill>
                <a:srgbClr val="1A9988"/>
              </a:solidFill>
              <a:latin typeface="Lato"/>
              <a:ea typeface="Lato"/>
              <a:cs typeface="Lato"/>
              <a:sym typeface="Lato"/>
            </a:endParaRPr>
          </a:p>
          <a:p>
            <a:pPr indent="-304800" lvl="1" marL="914400" rtl="0" algn="l">
              <a:lnSpc>
                <a:spcPct val="150000"/>
              </a:lnSpc>
              <a:spcBef>
                <a:spcPts val="0"/>
              </a:spcBef>
              <a:spcAft>
                <a:spcPts val="0"/>
              </a:spcAft>
              <a:buClr>
                <a:srgbClr val="1A9988"/>
              </a:buClr>
              <a:buSzPts val="1200"/>
              <a:buFont typeface="Lato"/>
              <a:buAutoNum type="alphaLcPeriod"/>
            </a:pPr>
            <a:r>
              <a:rPr b="1" lang="en" sz="1200">
                <a:solidFill>
                  <a:srgbClr val="1A9988"/>
                </a:solidFill>
                <a:latin typeface="Lato"/>
                <a:ea typeface="Lato"/>
                <a:cs typeface="Lato"/>
                <a:sym typeface="Lato"/>
              </a:rPr>
              <a:t>Negative Affect - frequency of negative emotions such as worry, sadness, and anger, also based on survey responses. </a:t>
            </a:r>
            <a:endParaRPr b="1" sz="1200">
              <a:solidFill>
                <a:srgbClr val="1A9988"/>
              </a:solidFill>
              <a:latin typeface="Lato"/>
              <a:ea typeface="Lato"/>
              <a:cs typeface="Lato"/>
              <a:sym typeface="Lato"/>
            </a:endParaRPr>
          </a:p>
          <a:p>
            <a:pPr indent="-304800" lvl="1" marL="914400" rtl="0" algn="l">
              <a:lnSpc>
                <a:spcPct val="150000"/>
              </a:lnSpc>
              <a:spcBef>
                <a:spcPts val="0"/>
              </a:spcBef>
              <a:spcAft>
                <a:spcPts val="0"/>
              </a:spcAft>
              <a:buClr>
                <a:srgbClr val="1A9988"/>
              </a:buClr>
              <a:buSzPts val="1200"/>
              <a:buFont typeface="Lato"/>
              <a:buAutoNum type="alphaLcPeriod"/>
            </a:pPr>
            <a:r>
              <a:rPr b="1" lang="en" sz="1200">
                <a:solidFill>
                  <a:srgbClr val="1A9988"/>
                </a:solidFill>
                <a:latin typeface="Lato"/>
                <a:ea typeface="Lato"/>
                <a:cs typeface="Lato"/>
                <a:sym typeface="Lato"/>
              </a:rPr>
              <a:t>Trust in Government</a:t>
            </a:r>
            <a:endParaRPr b="1" sz="1200">
              <a:solidFill>
                <a:srgbClr val="1A9988"/>
              </a:solidFill>
              <a:latin typeface="Lato"/>
              <a:ea typeface="Lato"/>
              <a:cs typeface="Lato"/>
              <a:sym typeface="Lato"/>
            </a:endParaRPr>
          </a:p>
          <a:p>
            <a:pPr indent="-304800" lvl="0" marL="457200" rtl="0" algn="l">
              <a:lnSpc>
                <a:spcPct val="150000"/>
              </a:lnSpc>
              <a:spcBef>
                <a:spcPts val="0"/>
              </a:spcBef>
              <a:spcAft>
                <a:spcPts val="0"/>
              </a:spcAft>
              <a:buClr>
                <a:srgbClr val="1A9988"/>
              </a:buClr>
              <a:buSzPts val="1200"/>
              <a:buFont typeface="Lato"/>
              <a:buChar char="●"/>
            </a:pPr>
            <a:r>
              <a:rPr b="1" lang="en" sz="1200">
                <a:solidFill>
                  <a:srgbClr val="1A9988"/>
                </a:solidFill>
                <a:latin typeface="Lato"/>
                <a:ea typeface="Lato"/>
                <a:cs typeface="Lato"/>
                <a:sym typeface="Lato"/>
              </a:rPr>
              <a:t>Most variables in the dataset are normalized to a 0–1 scale, with the exception of a few:</a:t>
            </a:r>
            <a:endParaRPr b="1" sz="1200">
              <a:solidFill>
                <a:srgbClr val="1A9988"/>
              </a:solidFill>
              <a:latin typeface="Lato"/>
              <a:ea typeface="Lato"/>
              <a:cs typeface="Lato"/>
              <a:sym typeface="Lato"/>
            </a:endParaRPr>
          </a:p>
          <a:p>
            <a:pPr indent="-304800" lvl="1" marL="914400" rtl="0" algn="l">
              <a:lnSpc>
                <a:spcPct val="150000"/>
              </a:lnSpc>
              <a:spcBef>
                <a:spcPts val="0"/>
              </a:spcBef>
              <a:spcAft>
                <a:spcPts val="0"/>
              </a:spcAft>
              <a:buClr>
                <a:srgbClr val="1A9988"/>
              </a:buClr>
              <a:buSzPts val="1200"/>
              <a:buFont typeface="Lato"/>
              <a:buAutoNum type="alphaLcPeriod"/>
            </a:pPr>
            <a:r>
              <a:rPr b="1" lang="en" sz="1200">
                <a:solidFill>
                  <a:srgbClr val="1A9988"/>
                </a:solidFill>
                <a:latin typeface="Lato"/>
                <a:ea typeface="Lato"/>
                <a:cs typeface="Lato"/>
                <a:sym typeface="Lato"/>
              </a:rPr>
              <a:t>Happiness is measured on a 0–8 scale (0 being the worst and 8 the best)</a:t>
            </a:r>
            <a:endParaRPr b="1" sz="1200">
              <a:solidFill>
                <a:srgbClr val="1A9988"/>
              </a:solidFill>
              <a:latin typeface="Lato"/>
              <a:ea typeface="Lato"/>
              <a:cs typeface="Lato"/>
              <a:sym typeface="Lato"/>
            </a:endParaRPr>
          </a:p>
          <a:p>
            <a:pPr indent="-304800" lvl="1" marL="914400" rtl="0" algn="l">
              <a:lnSpc>
                <a:spcPct val="150000"/>
              </a:lnSpc>
              <a:spcBef>
                <a:spcPts val="0"/>
              </a:spcBef>
              <a:spcAft>
                <a:spcPts val="0"/>
              </a:spcAft>
              <a:buClr>
                <a:srgbClr val="1A9988"/>
              </a:buClr>
              <a:buSzPts val="1200"/>
              <a:buFont typeface="Lato"/>
              <a:buAutoNum type="alphaLcPeriod"/>
            </a:pPr>
            <a:r>
              <a:rPr b="1" lang="en" sz="1200">
                <a:solidFill>
                  <a:srgbClr val="1A9988"/>
                </a:solidFill>
                <a:latin typeface="Lato"/>
                <a:ea typeface="Lato"/>
                <a:cs typeface="Lato"/>
                <a:sym typeface="Lato"/>
              </a:rPr>
              <a:t>Wealth logarithm of GDP per capita, ranging from ~ 5 to 12</a:t>
            </a:r>
            <a:endParaRPr b="1" sz="1200">
              <a:solidFill>
                <a:srgbClr val="1A9988"/>
              </a:solidFill>
              <a:latin typeface="Lato"/>
              <a:ea typeface="Lato"/>
              <a:cs typeface="Lato"/>
              <a:sym typeface="Lato"/>
            </a:endParaRPr>
          </a:p>
          <a:p>
            <a:pPr indent="-304800" lvl="1" marL="914400" rtl="0" algn="l">
              <a:lnSpc>
                <a:spcPct val="150000"/>
              </a:lnSpc>
              <a:spcBef>
                <a:spcPts val="0"/>
              </a:spcBef>
              <a:spcAft>
                <a:spcPts val="0"/>
              </a:spcAft>
              <a:buClr>
                <a:srgbClr val="1A9988"/>
              </a:buClr>
              <a:buSzPts val="1200"/>
              <a:buFont typeface="Lato"/>
              <a:buAutoNum type="alphaLcPeriod"/>
            </a:pPr>
            <a:r>
              <a:rPr b="1" lang="en" sz="1200">
                <a:solidFill>
                  <a:srgbClr val="1A9988"/>
                </a:solidFill>
                <a:latin typeface="Lato"/>
                <a:ea typeface="Lato"/>
                <a:cs typeface="Lato"/>
                <a:sym typeface="Lato"/>
              </a:rPr>
              <a:t>Life Expectancy range between 6 and 75 years</a:t>
            </a:r>
            <a:endParaRPr b="1" sz="1200">
              <a:solidFill>
                <a:srgbClr val="1A9988"/>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d9c67055b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d9c67055b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53fd043c1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53fd043c1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53d0d9a95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53d0d9a95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Given that ‘Trust in Government’ had the highest proportion of missing data (10.34%) and the variable was found to be approximately normally distributed, we imputed missing values using the mean. This approach preserves the distributional characteristics without introducing skew.</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‘Perceived Corruption’, which displayed a right-skewed distribution, we replaced missing values with the median based of that country to reduce the influence of outliers and maintain central tendency.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Duplicate Records: The dataset was checked for duplicate entries, and none were found.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Country Integrity: The ‘Country’ column was confirmed to contain only unique, valid country names with no anomalies.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Final Dataset Size: After preprocessing, the dataset was reduced from 2,089 records to 1,910 records, resulting in 91.84% data retention. Only 8.16% of the original data was discarded.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54b8d718ad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54b8d718ad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basically built an interactive bar chart using plotly to compare the average happiness in the past 5 years</a:t>
            </a:r>
            <a:endParaRPr/>
          </a:p>
          <a:p>
            <a:pPr indent="0" lvl="0" marL="0" rtl="0" algn="l">
              <a:spcBef>
                <a:spcPts val="0"/>
              </a:spcBef>
              <a:spcAft>
                <a:spcPts val="0"/>
              </a:spcAft>
              <a:buNone/>
            </a:pPr>
            <a:r>
              <a:rPr lang="en"/>
              <a:t>And</a:t>
            </a:r>
            <a:endParaRPr/>
          </a:p>
          <a:p>
            <a:pPr indent="0" lvl="0" marL="0" rtl="0" algn="l">
              <a:spcBef>
                <a:spcPts val="0"/>
              </a:spcBef>
              <a:spcAft>
                <a:spcPts val="0"/>
              </a:spcAft>
              <a:buNone/>
            </a:pPr>
            <a:r>
              <a:rPr lang="en"/>
              <a:t>The interactive feature is that you can hover over the average happiness, wealth, social support and life expectancy</a:t>
            </a:r>
            <a:endParaRPr/>
          </a:p>
          <a:p>
            <a:pPr indent="0" lvl="0" marL="0" rtl="0" algn="l">
              <a:spcBef>
                <a:spcPts val="0"/>
              </a:spcBef>
              <a:spcAft>
                <a:spcPts val="0"/>
              </a:spcAft>
              <a:buNone/>
            </a:pPr>
            <a:r>
              <a:rPr lang="en"/>
              <a:t>The ones we see with higher happiness scores consistently are mostly the nordic countries like finland denmark, </a:t>
            </a:r>
            <a:r>
              <a:rPr lang="en"/>
              <a:t>iceland, and we even have switzerland in there</a:t>
            </a:r>
            <a:endParaRPr/>
          </a:p>
          <a:p>
            <a:pPr indent="0" lvl="0" marL="0" rtl="0" algn="l">
              <a:spcBef>
                <a:spcPts val="0"/>
              </a:spcBef>
              <a:spcAft>
                <a:spcPts val="0"/>
              </a:spcAft>
              <a:buNone/>
            </a:pPr>
            <a:r>
              <a:rPr lang="en"/>
              <a:t>And something interesting we saw was that some countries had high life expectancy but lower happiness which emphasizes how important social support and wealth are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46ee7dff8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46ee7dff8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rPr b="1" lang="en" sz="1200">
                <a:solidFill>
                  <a:srgbClr val="1A9988"/>
                </a:solidFill>
                <a:latin typeface="Lato"/>
                <a:ea typeface="Lato"/>
                <a:cs typeface="Lato"/>
                <a:sym typeface="Lato"/>
              </a:rPr>
              <a:t>came up with our 5 unique questions and our first one is : what features are most strongly correlated with happiness </a:t>
            </a:r>
            <a:endParaRPr b="1" sz="1200">
              <a:solidFill>
                <a:srgbClr val="1A9988"/>
              </a:solidFill>
              <a:latin typeface="Lato"/>
              <a:ea typeface="Lato"/>
              <a:cs typeface="Lato"/>
              <a:sym typeface="Lato"/>
            </a:endParaRPr>
          </a:p>
          <a:p>
            <a:pPr indent="0" lvl="0" marL="457200" rtl="0" algn="l">
              <a:lnSpc>
                <a:spcPct val="115000"/>
              </a:lnSpc>
              <a:spcBef>
                <a:spcPts val="1000"/>
              </a:spcBef>
              <a:spcAft>
                <a:spcPts val="0"/>
              </a:spcAft>
              <a:buClr>
                <a:schemeClr val="dk1"/>
              </a:buClr>
              <a:buSzPts val="1100"/>
              <a:buFont typeface="Arial"/>
              <a:buNone/>
            </a:pPr>
            <a:r>
              <a:rPr b="1" lang="en" sz="1200">
                <a:solidFill>
                  <a:srgbClr val="1A9988"/>
                </a:solidFill>
                <a:latin typeface="Lato"/>
                <a:ea typeface="Lato"/>
                <a:cs typeface="Lato"/>
                <a:sym typeface="Lato"/>
              </a:rPr>
              <a:t>We have quite a lot of factors in our dataset but to quantify the relationship between those and happiness, we visualized a correlation matrix of key numerical variables through a heatmap</a:t>
            </a:r>
            <a:endParaRPr b="1" sz="1200">
              <a:solidFill>
                <a:srgbClr val="1A9988"/>
              </a:solidFill>
              <a:latin typeface="Lato"/>
              <a:ea typeface="Lato"/>
              <a:cs typeface="Lato"/>
              <a:sym typeface="Lato"/>
            </a:endParaRPr>
          </a:p>
          <a:p>
            <a:pPr indent="0" lvl="0" marL="457200" rtl="0" algn="l">
              <a:lnSpc>
                <a:spcPct val="115000"/>
              </a:lnSpc>
              <a:spcBef>
                <a:spcPts val="1000"/>
              </a:spcBef>
              <a:spcAft>
                <a:spcPts val="0"/>
              </a:spcAft>
              <a:buClr>
                <a:schemeClr val="dk1"/>
              </a:buClr>
              <a:buSzPts val="1100"/>
              <a:buFont typeface="Arial"/>
              <a:buNone/>
            </a:pPr>
            <a:r>
              <a:rPr b="1" lang="en" sz="1200">
                <a:solidFill>
                  <a:srgbClr val="1A9988"/>
                </a:solidFill>
                <a:latin typeface="Lato"/>
                <a:ea typeface="Lato"/>
                <a:cs typeface="Lato"/>
                <a:sym typeface="Lato"/>
              </a:rPr>
              <a:t>Some of our observations are that happiness had the strongest correlation with wealth, social support, and life expectancy</a:t>
            </a:r>
            <a:endParaRPr b="1" sz="1200">
              <a:solidFill>
                <a:srgbClr val="1A9988"/>
              </a:solidFill>
              <a:latin typeface="Lato"/>
              <a:ea typeface="Lato"/>
              <a:cs typeface="Lato"/>
              <a:sym typeface="Lato"/>
            </a:endParaRPr>
          </a:p>
          <a:p>
            <a:pPr indent="0" lvl="0" marL="457200" rtl="0" algn="l">
              <a:lnSpc>
                <a:spcPct val="115000"/>
              </a:lnSpc>
              <a:spcBef>
                <a:spcPts val="1000"/>
              </a:spcBef>
              <a:spcAft>
                <a:spcPts val="1000"/>
              </a:spcAft>
              <a:buClr>
                <a:schemeClr val="dk1"/>
              </a:buClr>
              <a:buSzPts val="1100"/>
              <a:buFont typeface="Arial"/>
              <a:buNone/>
            </a:pPr>
            <a:r>
              <a:rPr b="1" lang="en" sz="1200">
                <a:solidFill>
                  <a:srgbClr val="1A9988"/>
                </a:solidFill>
                <a:latin typeface="Lato"/>
                <a:ea typeface="Lato"/>
                <a:cs typeface="Lato"/>
                <a:sym typeface="Lato"/>
              </a:rPr>
              <a:t>Some of the weaker ones were positive affect and negative affect and trust in government which fairly supports our pairplot observation</a:t>
            </a:r>
            <a:endParaRPr sz="7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54b8d718ad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54b8d718ad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t/>
            </a:r>
            <a:endParaRPr b="1" sz="1600">
              <a:solidFill>
                <a:schemeClr val="dk1"/>
              </a:solidFill>
              <a:highlight>
                <a:schemeClr val="accent4"/>
              </a:highlight>
              <a:latin typeface="Lato"/>
              <a:ea typeface="Lato"/>
              <a:cs typeface="Lato"/>
              <a:sym typeface="Lato"/>
            </a:endParaRPr>
          </a:p>
          <a:p>
            <a:pPr indent="0" lvl="0" marL="0" rtl="0" algn="l">
              <a:lnSpc>
                <a:spcPct val="150000"/>
              </a:lnSpc>
              <a:spcBef>
                <a:spcPts val="1200"/>
              </a:spcBef>
              <a:spcAft>
                <a:spcPts val="0"/>
              </a:spcAft>
              <a:buNone/>
            </a:pPr>
            <a:r>
              <a:rPr b="1" lang="en" sz="1300">
                <a:solidFill>
                  <a:schemeClr val="dk1"/>
                </a:solidFill>
                <a:latin typeface="Lato"/>
                <a:ea typeface="Lato"/>
                <a:cs typeface="Lato"/>
                <a:sym typeface="Lato"/>
              </a:rPr>
              <a:t>Our next question is, do countries with higher trust in government report higher happiness so we created a fun interactive plot, which is a dual-line plot by country over time in which you can use the drop-down menu to select different countries to manually see these trends on the plot</a:t>
            </a:r>
            <a:endParaRPr b="1" sz="1300">
              <a:solidFill>
                <a:schemeClr val="dk1"/>
              </a:solidFill>
              <a:latin typeface="Lato"/>
              <a:ea typeface="Lato"/>
              <a:cs typeface="Lato"/>
              <a:sym typeface="Lato"/>
            </a:endParaRPr>
          </a:p>
          <a:p>
            <a:pPr indent="0" lvl="0" marL="0" rtl="0" algn="l">
              <a:lnSpc>
                <a:spcPct val="150000"/>
              </a:lnSpc>
              <a:spcBef>
                <a:spcPts val="1200"/>
              </a:spcBef>
              <a:spcAft>
                <a:spcPts val="0"/>
              </a:spcAft>
              <a:buNone/>
            </a:pPr>
            <a:r>
              <a:rPr b="1" lang="en" sz="1300">
                <a:solidFill>
                  <a:schemeClr val="dk1"/>
                </a:solidFill>
                <a:latin typeface="Lato"/>
                <a:ea typeface="Lato"/>
                <a:cs typeface="Lato"/>
                <a:sym typeface="Lato"/>
              </a:rPr>
              <a:t>There were only a small number of countries that had correlations and top 3 were Haiti, Yemen, and serbia. </a:t>
            </a:r>
            <a:endParaRPr b="1" sz="1300">
              <a:solidFill>
                <a:schemeClr val="dk1"/>
              </a:solidFill>
              <a:latin typeface="Lato"/>
              <a:ea typeface="Lato"/>
              <a:cs typeface="Lato"/>
              <a:sym typeface="Lato"/>
            </a:endParaRPr>
          </a:p>
          <a:p>
            <a:pPr indent="0" lvl="0" marL="0" rtl="0" algn="l">
              <a:lnSpc>
                <a:spcPct val="150000"/>
              </a:lnSpc>
              <a:spcBef>
                <a:spcPts val="1200"/>
              </a:spcBef>
              <a:spcAft>
                <a:spcPts val="0"/>
              </a:spcAft>
              <a:buNone/>
            </a:pPr>
            <a:r>
              <a:rPr b="1" lang="en" sz="1300">
                <a:solidFill>
                  <a:schemeClr val="dk1"/>
                </a:solidFill>
                <a:latin typeface="Lato"/>
                <a:ea typeface="Lato"/>
                <a:cs typeface="Lato"/>
                <a:sym typeface="Lato"/>
              </a:rPr>
              <a:t>You can see how the blue line which is happiness follows the red line (trust in gov)</a:t>
            </a:r>
            <a:endParaRPr b="1" sz="1300">
              <a:solidFill>
                <a:schemeClr val="dk1"/>
              </a:solidFill>
              <a:latin typeface="Lato"/>
              <a:ea typeface="Lato"/>
              <a:cs typeface="Lato"/>
              <a:sym typeface="Lato"/>
            </a:endParaRPr>
          </a:p>
          <a:p>
            <a:pPr indent="0" lvl="0" marL="0" rtl="0" algn="l">
              <a:lnSpc>
                <a:spcPct val="150000"/>
              </a:lnSpc>
              <a:spcBef>
                <a:spcPts val="1200"/>
              </a:spcBef>
              <a:spcAft>
                <a:spcPts val="0"/>
              </a:spcAft>
              <a:buNone/>
            </a:pPr>
            <a:r>
              <a:rPr b="1" lang="en" sz="1300">
                <a:solidFill>
                  <a:schemeClr val="dk1"/>
                </a:solidFill>
                <a:latin typeface="Lato"/>
                <a:ea typeface="Lato"/>
                <a:cs typeface="Lato"/>
                <a:sym typeface="Lato"/>
              </a:rPr>
              <a:t>Even though these plots might make you think trust in government has a lot of effect on happiness, our overall findings say otherwise, where majority of the countries had little to no correlation with trust in their gov</a:t>
            </a:r>
            <a:endParaRPr b="1" sz="1300">
              <a:solidFill>
                <a:schemeClr val="dk1"/>
              </a:solidFill>
              <a:latin typeface="Lato"/>
              <a:ea typeface="Lato"/>
              <a:cs typeface="Lato"/>
              <a:sym typeface="Lato"/>
            </a:endParaRPr>
          </a:p>
          <a:p>
            <a:pPr indent="0" lvl="0" marL="0" rtl="0" algn="l">
              <a:lnSpc>
                <a:spcPct val="150000"/>
              </a:lnSpc>
              <a:spcBef>
                <a:spcPts val="1200"/>
              </a:spcBef>
              <a:spcAft>
                <a:spcPts val="0"/>
              </a:spcAft>
              <a:buNone/>
            </a:pPr>
            <a:r>
              <a:t/>
            </a:r>
            <a:endParaRPr b="1" sz="1300">
              <a:solidFill>
                <a:schemeClr val="dk1"/>
              </a:solidFill>
              <a:latin typeface="Lato"/>
              <a:ea typeface="Lato"/>
              <a:cs typeface="Lato"/>
              <a:sym typeface="Lato"/>
            </a:endParaRPr>
          </a:p>
          <a:p>
            <a:pPr indent="0" lvl="0" marL="0" rtl="0" algn="l">
              <a:lnSpc>
                <a:spcPct val="150000"/>
              </a:lnSpc>
              <a:spcBef>
                <a:spcPts val="1200"/>
              </a:spcBef>
              <a:spcAft>
                <a:spcPts val="1200"/>
              </a:spcAft>
              <a:buClr>
                <a:schemeClr val="dk1"/>
              </a:buClr>
              <a:buSzPts val="1100"/>
              <a:buFont typeface="Arial"/>
              <a:buNone/>
            </a:pPr>
            <a:r>
              <a:t/>
            </a:r>
            <a:endParaRPr b="1" sz="1600">
              <a:solidFill>
                <a:schemeClr val="dk1"/>
              </a:solidFill>
              <a:highlight>
                <a:schemeClr val="accent4"/>
              </a:highlight>
              <a:latin typeface="Lato"/>
              <a:ea typeface="Lato"/>
              <a:cs typeface="Lato"/>
              <a:sym typeface="La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54b8d718a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54b8d718a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1600">
              <a:solidFill>
                <a:schemeClr val="dk1"/>
              </a:solidFill>
              <a:highlight>
                <a:schemeClr val="accent4"/>
              </a:highlight>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rPr lang="en" sz="1200"/>
              <a:t>Our next question is, are there significant differences in happiness between high and low social support countries?</a:t>
            </a:r>
            <a:endParaRPr sz="1200"/>
          </a:p>
          <a:p>
            <a:pPr indent="0" lvl="0" marL="0" rtl="0" algn="l">
              <a:lnSpc>
                <a:spcPct val="115000"/>
              </a:lnSpc>
              <a:spcBef>
                <a:spcPts val="1200"/>
              </a:spcBef>
              <a:spcAft>
                <a:spcPts val="0"/>
              </a:spcAft>
              <a:buNone/>
            </a:pPr>
            <a:r>
              <a:rPr lang="en">
                <a:solidFill>
                  <a:schemeClr val="dk1"/>
                </a:solidFill>
              </a:rPr>
              <a:t>We categorized countries into “High” and “Low” social support groups based on the median and used a boxplot to compare happiness levels.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Some of our observations were that the countries with high “social support” consistently reported higher happiness scores which emphasizes the importance of strong interpersonal and societal networking</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This ALSO validated our pairplot and correlation matrix</a:t>
            </a:r>
            <a:endParaRPr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54b8d718ad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54b8d718ad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t/>
            </a:r>
            <a:endParaRPr b="1" sz="1200">
              <a:solidFill>
                <a:schemeClr val="dk1"/>
              </a:solidFill>
              <a:latin typeface="Lato"/>
              <a:ea typeface="Lato"/>
              <a:cs typeface="Lato"/>
              <a:sym typeface="Lato"/>
            </a:endParaRPr>
          </a:p>
          <a:p>
            <a:pPr indent="0" lvl="0" marL="0" rtl="0" algn="l">
              <a:lnSpc>
                <a:spcPct val="100000"/>
              </a:lnSpc>
              <a:spcBef>
                <a:spcPts val="1200"/>
              </a:spcBef>
              <a:spcAft>
                <a:spcPts val="0"/>
              </a:spcAft>
              <a:buNone/>
            </a:pPr>
            <a:r>
              <a:rPr b="1" lang="en" sz="1200">
                <a:solidFill>
                  <a:schemeClr val="dk1"/>
                </a:solidFill>
                <a:latin typeface="Lato"/>
                <a:ea typeface="Lato"/>
                <a:cs typeface="Lato"/>
                <a:sym typeface="Lato"/>
              </a:rPr>
              <a:t>To visualize our last question, how do freedom, wealth, and life expectancy together explain happiness?, we decided to use a scatter plot which showed a multi-dimensional interaction: where </a:t>
            </a:r>
            <a:endParaRPr b="1" sz="1200">
              <a:solidFill>
                <a:schemeClr val="dk1"/>
              </a:solidFill>
              <a:latin typeface="Lato"/>
              <a:ea typeface="Lato"/>
              <a:cs typeface="Lato"/>
              <a:sym typeface="Lato"/>
            </a:endParaRPr>
          </a:p>
          <a:p>
            <a:pPr indent="0" lvl="0" marL="0" rtl="0" algn="l">
              <a:lnSpc>
                <a:spcPct val="100000"/>
              </a:lnSpc>
              <a:spcBef>
                <a:spcPts val="1200"/>
              </a:spcBef>
              <a:spcAft>
                <a:spcPts val="0"/>
              </a:spcAft>
              <a:buNone/>
            </a:pPr>
            <a:r>
              <a:rPr b="1" lang="en" sz="1200">
                <a:solidFill>
                  <a:schemeClr val="dk1"/>
                </a:solidFill>
                <a:latin typeface="Lato"/>
                <a:ea typeface="Lato"/>
                <a:cs typeface="Lato"/>
                <a:sym typeface="Lato"/>
              </a:rPr>
              <a:t>X is wealth, y is life expectancy, hue is happiness, and the style is freedom</a:t>
            </a:r>
            <a:endParaRPr b="1" sz="1200">
              <a:solidFill>
                <a:schemeClr val="dk1"/>
              </a:solidFill>
              <a:latin typeface="Lato"/>
              <a:ea typeface="Lato"/>
              <a:cs typeface="Lato"/>
              <a:sym typeface="Lato"/>
            </a:endParaRPr>
          </a:p>
          <a:p>
            <a:pPr indent="0" lvl="0" marL="0" rtl="0" algn="l">
              <a:lnSpc>
                <a:spcPct val="100000"/>
              </a:lnSpc>
              <a:spcBef>
                <a:spcPts val="1200"/>
              </a:spcBef>
              <a:spcAft>
                <a:spcPts val="0"/>
              </a:spcAft>
              <a:buNone/>
            </a:pPr>
            <a:r>
              <a:rPr b="1" lang="en" sz="1200">
                <a:solidFill>
                  <a:schemeClr val="dk1"/>
                </a:solidFill>
                <a:latin typeface="Lato"/>
                <a:ea typeface="Lato"/>
                <a:cs typeface="Lato"/>
                <a:sym typeface="Lato"/>
              </a:rPr>
              <a:t>From this we can conclude that the countries with high wealth, high life expectancy, and high freedom are clustered in the high happiness range</a:t>
            </a:r>
            <a:endParaRPr b="1" sz="1200">
              <a:solidFill>
                <a:schemeClr val="dk1"/>
              </a:solidFill>
              <a:latin typeface="Lato"/>
              <a:ea typeface="Lato"/>
              <a:cs typeface="Lato"/>
              <a:sym typeface="Lato"/>
            </a:endParaRPr>
          </a:p>
          <a:p>
            <a:pPr indent="0" lvl="0" marL="0" rtl="0" algn="l">
              <a:lnSpc>
                <a:spcPct val="100000"/>
              </a:lnSpc>
              <a:spcBef>
                <a:spcPts val="1200"/>
              </a:spcBef>
              <a:spcAft>
                <a:spcPts val="0"/>
              </a:spcAft>
              <a:buNone/>
            </a:pPr>
            <a:r>
              <a:rPr b="1" lang="en" sz="1200">
                <a:solidFill>
                  <a:schemeClr val="dk1"/>
                </a:solidFill>
                <a:latin typeface="Lato"/>
                <a:ea typeface="Lato"/>
                <a:cs typeface="Lato"/>
                <a:sym typeface="Lato"/>
              </a:rPr>
              <a:t>Freedom is not a very strong predictor as expected from it’s slope in the pairplot and low correlation #, and You see a bunch of squares in the orange/red zone</a:t>
            </a:r>
            <a:endParaRPr b="1" sz="1200">
              <a:solidFill>
                <a:schemeClr val="dk1"/>
              </a:solidFill>
              <a:latin typeface="Lato"/>
              <a:ea typeface="Lato"/>
              <a:cs typeface="Lato"/>
              <a:sym typeface="Lato"/>
            </a:endParaRPr>
          </a:p>
          <a:p>
            <a:pPr indent="0" lvl="0" marL="0" rtl="0" algn="l">
              <a:lnSpc>
                <a:spcPct val="100000"/>
              </a:lnSpc>
              <a:spcBef>
                <a:spcPts val="1200"/>
              </a:spcBef>
              <a:spcAft>
                <a:spcPts val="1200"/>
              </a:spcAft>
              <a:buNone/>
            </a:pPr>
            <a:r>
              <a:rPr b="1" lang="en" sz="1200">
                <a:solidFill>
                  <a:schemeClr val="dk1"/>
                </a:solidFill>
                <a:latin typeface="Lato"/>
                <a:ea typeface="Lato"/>
                <a:cs typeface="Lato"/>
                <a:sym typeface="Lato"/>
              </a:rPr>
              <a:t>Haiti was removed due to it being an extreme outlier because it had a very low life expectancy of around 40 years</a:t>
            </a:r>
            <a:endParaRPr b="1" sz="1200">
              <a:solidFill>
                <a:schemeClr val="dk1"/>
              </a:solidFill>
              <a:latin typeface="Lato"/>
              <a:ea typeface="Lato"/>
              <a:cs typeface="Lato"/>
              <a:sym typeface="La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54b8d718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54b8d718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54b8d718ad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54b8d718a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53fd043c1c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53fd043c1c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t/>
            </a:r>
            <a:endParaRPr b="1" sz="1600">
              <a:solidFill>
                <a:schemeClr val="dk1"/>
              </a:solidFill>
              <a:highlight>
                <a:schemeClr val="accent4"/>
              </a:highlight>
              <a:latin typeface="Lato"/>
              <a:ea typeface="Lato"/>
              <a:cs typeface="Lato"/>
              <a:sym typeface="Lato"/>
            </a:endParaRPr>
          </a:p>
          <a:p>
            <a:pPr indent="-317500" lvl="0" marL="457200" rtl="0" algn="l">
              <a:lnSpc>
                <a:spcPct val="115000"/>
              </a:lnSpc>
              <a:spcBef>
                <a:spcPts val="1200"/>
              </a:spcBef>
              <a:spcAft>
                <a:spcPts val="0"/>
              </a:spcAft>
              <a:buClr>
                <a:schemeClr val="dk1"/>
              </a:buClr>
              <a:buSzPts val="1400"/>
              <a:buChar char="●"/>
            </a:pPr>
            <a:r>
              <a:rPr lang="en">
                <a:solidFill>
                  <a:schemeClr val="dk1"/>
                </a:solidFill>
              </a:rPr>
              <a:t>Tried dropping weak features (Trust in Government, Generosity, Affect scores) — had minimal effect on score, which is good because it simplifies the model</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Apply cross-validation to avoid overfitting (avg of 5 r sq values)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GridSearchCV tuning on Random Forest:</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Optimized depth, estimators, split criteria, etc.</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Final R² = 0.885, MSE = 0.146 — very close to untuned model but with slightly more control</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Feature testing confirmed top 3 drivers: Wealth, Social Support, Life Expectancy</a:t>
            </a:r>
            <a:endParaRPr>
              <a:solidFill>
                <a:schemeClr val="dk1"/>
              </a:solidFill>
            </a:endParaRPr>
          </a:p>
          <a:p>
            <a:pPr indent="0" lvl="0" marL="0" rtl="0" algn="l">
              <a:lnSpc>
                <a:spcPct val="115000"/>
              </a:lnSpc>
              <a:spcBef>
                <a:spcPts val="1200"/>
              </a:spcBef>
              <a:spcAft>
                <a:spcPts val="0"/>
              </a:spcAft>
              <a:buNone/>
            </a:pPr>
            <a:r>
              <a:rPr lang="en">
                <a:solidFill>
                  <a:schemeClr val="dk1"/>
                </a:solidFill>
              </a:rPr>
              <a:t>Hyper Parameters</a:t>
            </a:r>
            <a:endParaRPr>
              <a:solidFill>
                <a:schemeClr val="dk1"/>
              </a:solidFill>
            </a:endParaRPr>
          </a:p>
          <a:p>
            <a:pPr indent="-317500" lvl="0" marL="457200" rtl="0" algn="l">
              <a:lnSpc>
                <a:spcPct val="115000"/>
              </a:lnSpc>
              <a:spcBef>
                <a:spcPts val="1200"/>
              </a:spcBef>
              <a:spcAft>
                <a:spcPts val="0"/>
              </a:spcAft>
              <a:buClr>
                <a:schemeClr val="dk1"/>
              </a:buClr>
              <a:buSzPts val="1400"/>
              <a:buChar char="●"/>
            </a:pPr>
            <a:r>
              <a:rPr lang="en">
                <a:solidFill>
                  <a:schemeClr val="dk1"/>
                </a:solidFill>
              </a:rPr>
              <a:t>The following parameters were tested: number of estimators (50, 100, 200), maximum depth (None, 10, 20), minimum samples required to split an internal node (2, 5), minimum samples required at a leaf node (1, 2), and the number of features considered at each split ('auto', 'sqrt').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The optimal combination of hyperparameters was found to be: max depth of 20, max features set to 'sqrt', minimum samples per leaf of 1, minimum samples per split of 2, and 100 estimators. This configuration yielded an R² score of 0.885 and a mean squared error (MSE) of 0.146.</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54b8d718ad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54b8d718a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100"/>
              <a:buFont typeface="Arial"/>
              <a:buNone/>
            </a:pPr>
            <a:r>
              <a:t/>
            </a:r>
            <a:endParaRPr b="1" sz="1200">
              <a:solidFill>
                <a:schemeClr val="dk1"/>
              </a:solidFill>
              <a:highlight>
                <a:schemeClr val="accent4"/>
              </a:highlight>
              <a:latin typeface="Lato"/>
              <a:ea typeface="Lato"/>
              <a:cs typeface="Lato"/>
              <a:sym typeface="Lato"/>
            </a:endParaRPr>
          </a:p>
          <a:p>
            <a:pPr indent="0" lvl="0" marL="457200" rtl="0" algn="l">
              <a:lnSpc>
                <a:spcPct val="100000"/>
              </a:lnSpc>
              <a:spcBef>
                <a:spcPts val="1200"/>
              </a:spcBef>
              <a:spcAft>
                <a:spcPts val="0"/>
              </a:spcAft>
              <a:buNone/>
            </a:pPr>
            <a:r>
              <a:rPr b="1" lang="en">
                <a:solidFill>
                  <a:srgbClr val="1A9988"/>
                </a:solidFill>
                <a:latin typeface="Lato"/>
                <a:ea typeface="Lato"/>
                <a:cs typeface="Lato"/>
                <a:sym typeface="Lato"/>
              </a:rPr>
              <a:t>So our general takeaway from analyzing this dataset is that the Top contributors to happiness are Wealth, Social Support, Life Expectancy</a:t>
            </a:r>
            <a:endParaRPr b="1">
              <a:solidFill>
                <a:srgbClr val="1A9988"/>
              </a:solidFill>
              <a:latin typeface="Lato"/>
              <a:ea typeface="Lato"/>
              <a:cs typeface="Lato"/>
              <a:sym typeface="Lato"/>
            </a:endParaRPr>
          </a:p>
          <a:p>
            <a:pPr indent="-298450" lvl="0" marL="457200" rtl="0" algn="l">
              <a:lnSpc>
                <a:spcPct val="100000"/>
              </a:lnSpc>
              <a:spcBef>
                <a:spcPts val="1200"/>
              </a:spcBef>
              <a:spcAft>
                <a:spcPts val="0"/>
              </a:spcAft>
              <a:buClr>
                <a:srgbClr val="1A9988"/>
              </a:buClr>
              <a:buSzPts val="1100"/>
              <a:buFont typeface="Lato"/>
              <a:buChar char="●"/>
            </a:pPr>
            <a:r>
              <a:rPr b="1" lang="en">
                <a:solidFill>
                  <a:srgbClr val="1A9988"/>
                </a:solidFill>
                <a:latin typeface="Lato"/>
                <a:ea typeface="Lato"/>
                <a:cs typeface="Lato"/>
                <a:sym typeface="Lato"/>
              </a:rPr>
              <a:t>The Trust in government had surprisingly very little impact on the happiness score however some selected countries had a strong alignment</a:t>
            </a:r>
            <a:endParaRPr b="1">
              <a:solidFill>
                <a:srgbClr val="1A9988"/>
              </a:solidFill>
              <a:latin typeface="Lato"/>
              <a:ea typeface="Lato"/>
              <a:cs typeface="Lato"/>
              <a:sym typeface="Lato"/>
            </a:endParaRPr>
          </a:p>
          <a:p>
            <a:pPr indent="0" lvl="0" marL="457200" rtl="0" algn="l">
              <a:lnSpc>
                <a:spcPct val="100000"/>
              </a:lnSpc>
              <a:spcBef>
                <a:spcPts val="1200"/>
              </a:spcBef>
              <a:spcAft>
                <a:spcPts val="0"/>
              </a:spcAft>
              <a:buNone/>
            </a:pPr>
            <a:r>
              <a:rPr b="1" lang="en">
                <a:solidFill>
                  <a:srgbClr val="1A9988"/>
                </a:solidFill>
                <a:latin typeface="Lato"/>
                <a:ea typeface="Lato"/>
                <a:cs typeface="Lato"/>
                <a:sym typeface="Lato"/>
              </a:rPr>
              <a:t>Our Initial plan to drop all NaNs caused data loss and a better way to go about it was to target imputation</a:t>
            </a:r>
            <a:endParaRPr b="1">
              <a:solidFill>
                <a:srgbClr val="1A9988"/>
              </a:solidFill>
              <a:latin typeface="Lato"/>
              <a:ea typeface="Lato"/>
              <a:cs typeface="Lato"/>
              <a:sym typeface="Lato"/>
            </a:endParaRPr>
          </a:p>
          <a:p>
            <a:pPr indent="0" lvl="0" marL="457200" rtl="0" algn="l">
              <a:lnSpc>
                <a:spcPct val="100000"/>
              </a:lnSpc>
              <a:spcBef>
                <a:spcPts val="1200"/>
              </a:spcBef>
              <a:spcAft>
                <a:spcPts val="0"/>
              </a:spcAft>
              <a:buNone/>
            </a:pPr>
            <a:r>
              <a:rPr b="1" lang="en">
                <a:solidFill>
                  <a:srgbClr val="1A9988"/>
                </a:solidFill>
                <a:latin typeface="Lato"/>
                <a:ea typeface="Lato"/>
                <a:cs typeface="Lato"/>
                <a:sym typeface="Lato"/>
              </a:rPr>
              <a:t>And our Machine Learning  model refinement showed that some features have very  minimal predictive power</a:t>
            </a:r>
            <a:endParaRPr b="1">
              <a:solidFill>
                <a:srgbClr val="1A9988"/>
              </a:solidFill>
              <a:latin typeface="Lato"/>
              <a:ea typeface="Lato"/>
              <a:cs typeface="Lato"/>
              <a:sym typeface="Lato"/>
            </a:endParaRPr>
          </a:p>
          <a:p>
            <a:pPr indent="0" lvl="0" marL="457200" rtl="0" algn="l">
              <a:lnSpc>
                <a:spcPct val="100000"/>
              </a:lnSpc>
              <a:spcBef>
                <a:spcPts val="1200"/>
              </a:spcBef>
              <a:spcAft>
                <a:spcPts val="0"/>
              </a:spcAft>
              <a:buNone/>
            </a:pPr>
            <a:r>
              <a:rPr b="1" lang="en">
                <a:solidFill>
                  <a:srgbClr val="1A9988"/>
                </a:solidFill>
                <a:latin typeface="Lato"/>
                <a:ea typeface="Lato"/>
                <a:cs typeface="Lato"/>
                <a:sym typeface="Lato"/>
              </a:rPr>
              <a:t>But Combining data exploration and ML helped uncover both insightful patterns and predicting factors which can be very useful for future developments </a:t>
            </a:r>
            <a:endParaRPr b="1">
              <a:solidFill>
                <a:srgbClr val="1A9988"/>
              </a:solidFill>
              <a:latin typeface="Lato"/>
              <a:ea typeface="Lato"/>
              <a:cs typeface="Lato"/>
              <a:sym typeface="Lato"/>
            </a:endParaRPr>
          </a:p>
          <a:p>
            <a:pPr indent="0" lvl="0" marL="457200" rtl="0" algn="l">
              <a:lnSpc>
                <a:spcPct val="100000"/>
              </a:lnSpc>
              <a:spcBef>
                <a:spcPts val="1200"/>
              </a:spcBef>
              <a:spcAft>
                <a:spcPts val="0"/>
              </a:spcAft>
              <a:buNone/>
            </a:pPr>
            <a:r>
              <a:rPr b="1" lang="en">
                <a:solidFill>
                  <a:srgbClr val="1A9988"/>
                </a:solidFill>
                <a:latin typeface="Lato"/>
                <a:ea typeface="Lato"/>
                <a:cs typeface="Lato"/>
                <a:sym typeface="Lato"/>
              </a:rPr>
              <a:t>Some of our struggles throughout would be handling missing data, at first dropping those values seemed straightforward but it removed far more data than we anticipated so imputing the values </a:t>
            </a:r>
            <a:endParaRPr b="1">
              <a:solidFill>
                <a:srgbClr val="1A9988"/>
              </a:solidFill>
              <a:latin typeface="Lato"/>
              <a:ea typeface="Lato"/>
              <a:cs typeface="Lato"/>
              <a:sym typeface="Lato"/>
            </a:endParaRPr>
          </a:p>
          <a:p>
            <a:pPr indent="0" lvl="0" marL="0" rtl="0" algn="l">
              <a:lnSpc>
                <a:spcPct val="100000"/>
              </a:lnSpc>
              <a:spcBef>
                <a:spcPts val="1200"/>
              </a:spcBef>
              <a:spcAft>
                <a:spcPts val="0"/>
              </a:spcAft>
              <a:buClr>
                <a:schemeClr val="dk1"/>
              </a:buClr>
              <a:buSzPts val="1100"/>
              <a:buFont typeface="Arial"/>
              <a:buNone/>
            </a:pPr>
            <a:r>
              <a:t/>
            </a:r>
            <a:endParaRPr b="1" sz="800">
              <a:solidFill>
                <a:schemeClr val="dk1"/>
              </a:solidFill>
              <a:latin typeface="Lato"/>
              <a:ea typeface="Lato"/>
              <a:cs typeface="Lato"/>
              <a:sym typeface="Lato"/>
            </a:endParaRPr>
          </a:p>
          <a:p>
            <a:pPr indent="0" lvl="0" marL="0" rtl="0" algn="l">
              <a:lnSpc>
                <a:spcPct val="100000"/>
              </a:lnSpc>
              <a:spcBef>
                <a:spcPts val="1200"/>
              </a:spcBef>
              <a:spcAft>
                <a:spcPts val="1200"/>
              </a:spcAft>
              <a:buClr>
                <a:schemeClr val="dk1"/>
              </a:buClr>
              <a:buSzPts val="1100"/>
              <a:buFont typeface="Arial"/>
              <a:buNone/>
            </a:pPr>
            <a:r>
              <a:t/>
            </a:r>
            <a:endParaRPr b="1" sz="1200">
              <a:solidFill>
                <a:schemeClr val="dk1"/>
              </a:solidFill>
              <a:highlight>
                <a:schemeClr val="accent4"/>
              </a:highlight>
              <a:latin typeface="Lato"/>
              <a:ea typeface="Lato"/>
              <a:cs typeface="Lato"/>
              <a:sym typeface="La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d9c67055b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d9c67055b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120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729450" y="1322450"/>
            <a:ext cx="3787800" cy="1988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Clr>
                <a:schemeClr val="dk2"/>
              </a:buClr>
              <a:buSzPts val="4000"/>
              <a:buNone/>
              <a:defRPr sz="4000">
                <a:solidFill>
                  <a:schemeClr val="dk2"/>
                </a:solidFill>
              </a:defRPr>
            </a:lvl2pPr>
            <a:lvl3pPr lvl="2">
              <a:spcBef>
                <a:spcPts val="0"/>
              </a:spcBef>
              <a:spcAft>
                <a:spcPts val="0"/>
              </a:spcAft>
              <a:buClr>
                <a:schemeClr val="dk2"/>
              </a:buClr>
              <a:buSzPts val="4000"/>
              <a:buNone/>
              <a:defRPr sz="4000">
                <a:solidFill>
                  <a:schemeClr val="dk2"/>
                </a:solidFill>
              </a:defRPr>
            </a:lvl3pPr>
            <a:lvl4pPr lvl="3">
              <a:spcBef>
                <a:spcPts val="0"/>
              </a:spcBef>
              <a:spcAft>
                <a:spcPts val="0"/>
              </a:spcAft>
              <a:buClr>
                <a:schemeClr val="dk2"/>
              </a:buClr>
              <a:buSzPts val="4000"/>
              <a:buNone/>
              <a:defRPr sz="4000">
                <a:solidFill>
                  <a:schemeClr val="dk2"/>
                </a:solidFill>
              </a:defRPr>
            </a:lvl4pPr>
            <a:lvl5pPr lvl="4">
              <a:spcBef>
                <a:spcPts val="0"/>
              </a:spcBef>
              <a:spcAft>
                <a:spcPts val="0"/>
              </a:spcAft>
              <a:buClr>
                <a:schemeClr val="dk2"/>
              </a:buClr>
              <a:buSzPts val="4000"/>
              <a:buNone/>
              <a:defRPr sz="4000">
                <a:solidFill>
                  <a:schemeClr val="dk2"/>
                </a:solidFill>
              </a:defRPr>
            </a:lvl5pPr>
            <a:lvl6pPr lvl="5">
              <a:spcBef>
                <a:spcPts val="0"/>
              </a:spcBef>
              <a:spcAft>
                <a:spcPts val="0"/>
              </a:spcAft>
              <a:buClr>
                <a:schemeClr val="dk2"/>
              </a:buClr>
              <a:buSzPts val="4000"/>
              <a:buNone/>
              <a:defRPr sz="4000">
                <a:solidFill>
                  <a:schemeClr val="dk2"/>
                </a:solidFill>
              </a:defRPr>
            </a:lvl6pPr>
            <a:lvl7pPr lvl="6">
              <a:spcBef>
                <a:spcPts val="0"/>
              </a:spcBef>
              <a:spcAft>
                <a:spcPts val="0"/>
              </a:spcAft>
              <a:buClr>
                <a:schemeClr val="dk2"/>
              </a:buClr>
              <a:buSzPts val="4000"/>
              <a:buNone/>
              <a:defRPr sz="4000">
                <a:solidFill>
                  <a:schemeClr val="dk2"/>
                </a:solidFill>
              </a:defRPr>
            </a:lvl7pPr>
            <a:lvl8pPr lvl="7">
              <a:spcBef>
                <a:spcPts val="0"/>
              </a:spcBef>
              <a:spcAft>
                <a:spcPts val="0"/>
              </a:spcAft>
              <a:buClr>
                <a:schemeClr val="dk2"/>
              </a:buClr>
              <a:buSzPts val="4000"/>
              <a:buNone/>
              <a:defRPr sz="4000">
                <a:solidFill>
                  <a:schemeClr val="dk2"/>
                </a:solidFill>
              </a:defRPr>
            </a:lvl8pPr>
            <a:lvl9pPr lvl="8">
              <a:spcBef>
                <a:spcPts val="0"/>
              </a:spcBef>
              <a:spcAft>
                <a:spcPts val="0"/>
              </a:spcAft>
              <a:buClr>
                <a:schemeClr val="dk2"/>
              </a:buClr>
              <a:buSzPts val="4000"/>
              <a:buNone/>
              <a:defRPr sz="4000">
                <a:solidFill>
                  <a:schemeClr val="dk2"/>
                </a:solidFill>
              </a:defRPr>
            </a:lvl9pPr>
          </a:lstStyle>
          <a:p/>
        </p:txBody>
      </p:sp>
      <p:sp>
        <p:nvSpPr>
          <p:cNvPr id="11" name="Google Shape;11;p2"/>
          <p:cNvSpPr txBox="1"/>
          <p:nvPr>
            <p:ph idx="1" type="subTitle"/>
          </p:nvPr>
        </p:nvSpPr>
        <p:spPr>
          <a:xfrm>
            <a:off x="729595" y="3401500"/>
            <a:ext cx="37878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2" name="Google Shape;12;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13" name="Google Shape;13;p2"/>
          <p:cNvGrpSpPr/>
          <p:nvPr/>
        </p:nvGrpSpPr>
        <p:grpSpPr>
          <a:xfrm>
            <a:off x="830392" y="1191256"/>
            <a:ext cx="745763" cy="45826"/>
            <a:chOff x="4580561" y="2589004"/>
            <a:chExt cx="1064464" cy="25200"/>
          </a:xfrm>
        </p:grpSpPr>
        <p:sp>
          <p:nvSpPr>
            <p:cNvPr id="14" name="Google Shape;14;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bg>
      <p:bgPr>
        <a:solidFill>
          <a:schemeClr val="lt2"/>
        </a:solidFill>
      </p:bgPr>
    </p:bg>
    <p:spTree>
      <p:nvGrpSpPr>
        <p:cNvPr id="17" name="Shape 17"/>
        <p:cNvGrpSpPr/>
        <p:nvPr/>
      </p:nvGrpSpPr>
      <p:grpSpPr>
        <a:xfrm>
          <a:off x="0" y="0"/>
          <a:ext cx="0" cy="0"/>
          <a:chOff x="0" y="0"/>
          <a:chExt cx="0" cy="0"/>
        </a:xfrm>
      </p:grpSpPr>
      <p:sp>
        <p:nvSpPr>
          <p:cNvPr id="18" name="Google Shape;18;p3"/>
          <p:cNvSpPr txBox="1"/>
          <p:nvPr>
            <p:ph type="ctrTitle"/>
          </p:nvPr>
        </p:nvSpPr>
        <p:spPr>
          <a:xfrm>
            <a:off x="729450" y="1322450"/>
            <a:ext cx="3787800" cy="198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000"/>
              <a:buNone/>
              <a:defRPr sz="4000">
                <a:solidFill>
                  <a:schemeClr val="dk2"/>
                </a:solidFill>
              </a:defRPr>
            </a:lvl1pPr>
            <a:lvl2pPr lvl="1" rtl="0">
              <a:spcBef>
                <a:spcPts val="0"/>
              </a:spcBef>
              <a:spcAft>
                <a:spcPts val="0"/>
              </a:spcAft>
              <a:buClr>
                <a:schemeClr val="dk2"/>
              </a:buClr>
              <a:buSzPts val="4000"/>
              <a:buNone/>
              <a:defRPr sz="4000">
                <a:solidFill>
                  <a:schemeClr val="dk2"/>
                </a:solidFill>
              </a:defRPr>
            </a:lvl2pPr>
            <a:lvl3pPr lvl="2" rtl="0">
              <a:spcBef>
                <a:spcPts val="0"/>
              </a:spcBef>
              <a:spcAft>
                <a:spcPts val="0"/>
              </a:spcAft>
              <a:buClr>
                <a:schemeClr val="dk2"/>
              </a:buClr>
              <a:buSzPts val="4000"/>
              <a:buNone/>
              <a:defRPr sz="4000">
                <a:solidFill>
                  <a:schemeClr val="dk2"/>
                </a:solidFill>
              </a:defRPr>
            </a:lvl3pPr>
            <a:lvl4pPr lvl="3" rtl="0">
              <a:spcBef>
                <a:spcPts val="0"/>
              </a:spcBef>
              <a:spcAft>
                <a:spcPts val="0"/>
              </a:spcAft>
              <a:buClr>
                <a:schemeClr val="dk2"/>
              </a:buClr>
              <a:buSzPts val="4000"/>
              <a:buNone/>
              <a:defRPr sz="4000">
                <a:solidFill>
                  <a:schemeClr val="dk2"/>
                </a:solidFill>
              </a:defRPr>
            </a:lvl4pPr>
            <a:lvl5pPr lvl="4" rtl="0">
              <a:spcBef>
                <a:spcPts val="0"/>
              </a:spcBef>
              <a:spcAft>
                <a:spcPts val="0"/>
              </a:spcAft>
              <a:buClr>
                <a:schemeClr val="dk2"/>
              </a:buClr>
              <a:buSzPts val="4000"/>
              <a:buNone/>
              <a:defRPr sz="4000">
                <a:solidFill>
                  <a:schemeClr val="dk2"/>
                </a:solidFill>
              </a:defRPr>
            </a:lvl5pPr>
            <a:lvl6pPr lvl="5" rtl="0">
              <a:spcBef>
                <a:spcPts val="0"/>
              </a:spcBef>
              <a:spcAft>
                <a:spcPts val="0"/>
              </a:spcAft>
              <a:buClr>
                <a:schemeClr val="dk2"/>
              </a:buClr>
              <a:buSzPts val="4000"/>
              <a:buNone/>
              <a:defRPr sz="4000">
                <a:solidFill>
                  <a:schemeClr val="dk2"/>
                </a:solidFill>
              </a:defRPr>
            </a:lvl6pPr>
            <a:lvl7pPr lvl="6" rtl="0">
              <a:spcBef>
                <a:spcPts val="0"/>
              </a:spcBef>
              <a:spcAft>
                <a:spcPts val="0"/>
              </a:spcAft>
              <a:buClr>
                <a:schemeClr val="dk2"/>
              </a:buClr>
              <a:buSzPts val="4000"/>
              <a:buNone/>
              <a:defRPr sz="4000">
                <a:solidFill>
                  <a:schemeClr val="dk2"/>
                </a:solidFill>
              </a:defRPr>
            </a:lvl7pPr>
            <a:lvl8pPr lvl="7" rtl="0">
              <a:spcBef>
                <a:spcPts val="0"/>
              </a:spcBef>
              <a:spcAft>
                <a:spcPts val="0"/>
              </a:spcAft>
              <a:buClr>
                <a:schemeClr val="dk2"/>
              </a:buClr>
              <a:buSzPts val="4000"/>
              <a:buNone/>
              <a:defRPr sz="4000">
                <a:solidFill>
                  <a:schemeClr val="dk2"/>
                </a:solidFill>
              </a:defRPr>
            </a:lvl8pPr>
            <a:lvl9pPr lvl="8" rtl="0">
              <a:spcBef>
                <a:spcPts val="0"/>
              </a:spcBef>
              <a:spcAft>
                <a:spcPts val="0"/>
              </a:spcAft>
              <a:buClr>
                <a:schemeClr val="dk2"/>
              </a:buClr>
              <a:buSzPts val="4000"/>
              <a:buNone/>
              <a:defRPr sz="4000">
                <a:solidFill>
                  <a:schemeClr val="dk2"/>
                </a:solidFill>
              </a:defRPr>
            </a:lvl9pPr>
          </a:lstStyle>
          <a:p/>
        </p:txBody>
      </p:sp>
      <p:sp>
        <p:nvSpPr>
          <p:cNvPr id="19" name="Google Shape;19;p3"/>
          <p:cNvSpPr txBox="1"/>
          <p:nvPr>
            <p:ph idx="1" type="subTitle"/>
          </p:nvPr>
        </p:nvSpPr>
        <p:spPr>
          <a:xfrm>
            <a:off x="729595" y="3401500"/>
            <a:ext cx="37878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20" name="Google Shape;20;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21" name="Google Shape;21;p3"/>
          <p:cNvGrpSpPr/>
          <p:nvPr/>
        </p:nvGrpSpPr>
        <p:grpSpPr>
          <a:xfrm>
            <a:off x="830392" y="1191256"/>
            <a:ext cx="745763" cy="45826"/>
            <a:chOff x="4580561" y="2589004"/>
            <a:chExt cx="1064464" cy="25200"/>
          </a:xfrm>
        </p:grpSpPr>
        <p:sp>
          <p:nvSpPr>
            <p:cNvPr id="22" name="Google Shape;22;p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 name="Google Shape;24;p3"/>
          <p:cNvSpPr/>
          <p:nvPr/>
        </p:nvSpPr>
        <p:spPr>
          <a:xfrm>
            <a:off x="0" y="1"/>
            <a:ext cx="9144000" cy="467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3"/>
          <p:cNvGrpSpPr/>
          <p:nvPr/>
        </p:nvGrpSpPr>
        <p:grpSpPr>
          <a:xfrm>
            <a:off x="5063224" y="1313339"/>
            <a:ext cx="3459829" cy="2670551"/>
            <a:chOff x="3553042" y="1657806"/>
            <a:chExt cx="3461100" cy="2671532"/>
          </a:xfrm>
        </p:grpSpPr>
        <p:sp>
          <p:nvSpPr>
            <p:cNvPr id="26" name="Google Shape;26;p3"/>
            <p:cNvSpPr/>
            <p:nvPr/>
          </p:nvSpPr>
          <p:spPr>
            <a:xfrm>
              <a:off x="4856024" y="3625653"/>
              <a:ext cx="944700" cy="663300"/>
            </a:xfrm>
            <a:prstGeom prst="trapezoid">
              <a:avLst>
                <a:gd fmla="val 2500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10800000">
              <a:off x="4953871" y="3681997"/>
              <a:ext cx="400200" cy="606600"/>
            </a:xfrm>
            <a:prstGeom prst="triangle">
              <a:avLst>
                <a:gd fmla="val 96745"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4767796" y="3681816"/>
              <a:ext cx="163500" cy="606600"/>
            </a:xfrm>
            <a:prstGeom prst="triangle">
              <a:avLst>
                <a:gd fmla="val 98558"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10800000">
              <a:off x="4668343" y="4283738"/>
              <a:ext cx="1230600" cy="45600"/>
            </a:xfrm>
            <a:prstGeom prst="roundRect">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4926950" y="3681915"/>
              <a:ext cx="42900" cy="594300"/>
            </a:xfrm>
            <a:prstGeom prst="rect">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3553042" y="1674645"/>
              <a:ext cx="3461100" cy="2014500"/>
            </a:xfrm>
            <a:prstGeom prst="roundRect">
              <a:avLst>
                <a:gd fmla="val 1882" name="adj"/>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3553042" y="1657806"/>
              <a:ext cx="3461100" cy="2014500"/>
            </a:xfrm>
            <a:prstGeom prst="roundRect">
              <a:avLst>
                <a:gd fmla="val 1764"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Component Detail" id="34" name="Google Shape;34;p3"/>
          <p:cNvPicPr preferRelativeResize="0"/>
          <p:nvPr/>
        </p:nvPicPr>
        <p:blipFill rotWithShape="1">
          <a:blip r:embed="rId2">
            <a:alphaModFix/>
          </a:blip>
          <a:srcRect b="25076" l="0" r="0" t="0"/>
          <a:stretch/>
        </p:blipFill>
        <p:spPr>
          <a:xfrm>
            <a:off x="5161725" y="1399791"/>
            <a:ext cx="3262825" cy="1833425"/>
          </a:xfrm>
          <a:prstGeom prst="rect">
            <a:avLst/>
          </a:prstGeom>
          <a:noFill/>
          <a:ln>
            <a:noFill/>
          </a:ln>
        </p:spPr>
      </p:pic>
      <p:sp>
        <p:nvSpPr>
          <p:cNvPr id="35" name="Google Shape;35;p3"/>
          <p:cNvSpPr/>
          <p:nvPr/>
        </p:nvSpPr>
        <p:spPr>
          <a:xfrm flipH="1">
            <a:off x="5156196" y="1401826"/>
            <a:ext cx="3268577" cy="1812993"/>
          </a:xfrm>
          <a:prstGeom prst="rtTriangle">
            <a:avLst/>
          </a:prstGeom>
          <a:solidFill>
            <a:srgbClr val="000000">
              <a:alpha val="3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 name="Google Shape;36;p3"/>
          <p:cNvGrpSpPr/>
          <p:nvPr/>
        </p:nvGrpSpPr>
        <p:grpSpPr>
          <a:xfrm>
            <a:off x="7666681" y="2077877"/>
            <a:ext cx="1148179" cy="2282764"/>
            <a:chOff x="7666681" y="2077877"/>
            <a:chExt cx="1148179" cy="2282764"/>
          </a:xfrm>
        </p:grpSpPr>
        <p:grpSp>
          <p:nvGrpSpPr>
            <p:cNvPr id="37" name="Google Shape;37;p3"/>
            <p:cNvGrpSpPr/>
            <p:nvPr/>
          </p:nvGrpSpPr>
          <p:grpSpPr>
            <a:xfrm>
              <a:off x="7666681" y="2077877"/>
              <a:ext cx="1148179" cy="2282764"/>
              <a:chOff x="3983627" y="1676395"/>
              <a:chExt cx="1449538" cy="2881914"/>
            </a:xfrm>
          </p:grpSpPr>
          <p:sp>
            <p:nvSpPr>
              <p:cNvPr id="38" name="Google Shape;38;p3"/>
              <p:cNvSpPr/>
              <p:nvPr/>
            </p:nvSpPr>
            <p:spPr>
              <a:xfrm rot="-5400000">
                <a:off x="3276827" y="2404608"/>
                <a:ext cx="2860500" cy="1446900"/>
              </a:xfrm>
              <a:prstGeom prst="roundRect">
                <a:avLst>
                  <a:gd fmla="val 4551" name="adj"/>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3279465" y="2383195"/>
                <a:ext cx="2860500" cy="1446900"/>
              </a:xfrm>
              <a:prstGeom prst="roundRect">
                <a:avLst>
                  <a:gd fmla="val 4551" name="adj"/>
                </a:avLst>
              </a:pr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4473243" y="4318802"/>
                <a:ext cx="472800" cy="76800"/>
              </a:xfrm>
              <a:prstGeom prst="roundRect">
                <a:avLst>
                  <a:gd fmla="val 50000" name="adj"/>
                </a:avLst>
              </a:prstGeom>
              <a:solidFill>
                <a:srgbClr val="4B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Mobile View" id="41" name="Google Shape;41;p3"/>
            <p:cNvPicPr preferRelativeResize="0"/>
            <p:nvPr/>
          </p:nvPicPr>
          <p:blipFill rotWithShape="1">
            <a:blip r:embed="rId3">
              <a:alphaModFix/>
            </a:blip>
            <a:srcRect b="4371" l="0" r="0" t="4362"/>
            <a:stretch/>
          </p:blipFill>
          <p:spPr>
            <a:xfrm>
              <a:off x="7720839" y="2222723"/>
              <a:ext cx="1037555" cy="1833418"/>
            </a:xfrm>
            <a:prstGeom prst="rect">
              <a:avLst/>
            </a:prstGeom>
            <a:noFill/>
            <a:ln>
              <a:noFill/>
            </a:ln>
          </p:spPr>
        </p:pic>
        <p:sp>
          <p:nvSpPr>
            <p:cNvPr id="42" name="Google Shape;42;p3"/>
            <p:cNvSpPr/>
            <p:nvPr/>
          </p:nvSpPr>
          <p:spPr>
            <a:xfrm flipH="1">
              <a:off x="7722342" y="2222973"/>
              <a:ext cx="1037700" cy="1833000"/>
            </a:xfrm>
            <a:prstGeom prst="rtTriangle">
              <a:avLst/>
            </a:prstGeom>
            <a:solidFill>
              <a:srgbClr val="000000">
                <a:alpha val="3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3" name="Shape 43"/>
        <p:cNvGrpSpPr/>
        <p:nvPr/>
      </p:nvGrpSpPr>
      <p:grpSpPr>
        <a:xfrm>
          <a:off x="0" y="0"/>
          <a:ext cx="0" cy="0"/>
          <a:chOff x="0" y="0"/>
          <a:chExt cx="0" cy="0"/>
        </a:xfrm>
      </p:grpSpPr>
      <p:grpSp>
        <p:nvGrpSpPr>
          <p:cNvPr id="44" name="Google Shape;44;p4"/>
          <p:cNvGrpSpPr/>
          <p:nvPr/>
        </p:nvGrpSpPr>
        <p:grpSpPr>
          <a:xfrm>
            <a:off x="830392" y="1191256"/>
            <a:ext cx="745763" cy="45826"/>
            <a:chOff x="4580561" y="2589004"/>
            <a:chExt cx="1064464" cy="25200"/>
          </a:xfrm>
        </p:grpSpPr>
        <p:sp>
          <p:nvSpPr>
            <p:cNvPr id="45" name="Google Shape;45;p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p:txBody>
      </p:sp>
      <p:sp>
        <p:nvSpPr>
          <p:cNvPr id="48" name="Google Shape;48;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9" name="Shape 49"/>
        <p:cNvGrpSpPr/>
        <p:nvPr/>
      </p:nvGrpSpPr>
      <p:grpSpPr>
        <a:xfrm>
          <a:off x="0" y="0"/>
          <a:ext cx="0" cy="0"/>
          <a:chOff x="0" y="0"/>
          <a:chExt cx="0" cy="0"/>
        </a:xfrm>
      </p:grpSpPr>
      <p:sp>
        <p:nvSpPr>
          <p:cNvPr id="50" name="Google Shape;50;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 name="Google Shape;51;p5"/>
          <p:cNvGrpSpPr/>
          <p:nvPr/>
        </p:nvGrpSpPr>
        <p:grpSpPr>
          <a:xfrm>
            <a:off x="830392" y="1191256"/>
            <a:ext cx="745763" cy="45826"/>
            <a:chOff x="4580561" y="2589004"/>
            <a:chExt cx="1064464" cy="25200"/>
          </a:xfrm>
        </p:grpSpPr>
        <p:sp>
          <p:nvSpPr>
            <p:cNvPr id="52" name="Google Shape;52;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 name="Google Shape;54;p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55" name="Google Shape;55;p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6" name="Google Shape;56;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7" name="Shape 57"/>
        <p:cNvGrpSpPr/>
        <p:nvPr/>
      </p:nvGrpSpPr>
      <p:grpSpPr>
        <a:xfrm>
          <a:off x="0" y="0"/>
          <a:ext cx="0" cy="0"/>
          <a:chOff x="0" y="0"/>
          <a:chExt cx="0" cy="0"/>
        </a:xfrm>
      </p:grpSpPr>
      <p:sp>
        <p:nvSpPr>
          <p:cNvPr id="58" name="Google Shape;58;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 name="Google Shape;59;p6"/>
          <p:cNvGrpSpPr/>
          <p:nvPr/>
        </p:nvGrpSpPr>
        <p:grpSpPr>
          <a:xfrm>
            <a:off x="830392" y="1191256"/>
            <a:ext cx="745763" cy="45826"/>
            <a:chOff x="4580561" y="2589004"/>
            <a:chExt cx="1064464" cy="25200"/>
          </a:xfrm>
        </p:grpSpPr>
        <p:sp>
          <p:nvSpPr>
            <p:cNvPr id="60" name="Google Shape;60;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 name="Google Shape;62;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63" name="Google Shape;63;p6"/>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4" name="Google Shape;64;p6"/>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5" name="Google Shape;65;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 name="Google Shape;68;p7"/>
          <p:cNvGrpSpPr/>
          <p:nvPr/>
        </p:nvGrpSpPr>
        <p:grpSpPr>
          <a:xfrm>
            <a:off x="830392" y="1191256"/>
            <a:ext cx="745763" cy="45826"/>
            <a:chOff x="4580561" y="2589004"/>
            <a:chExt cx="1064464" cy="25200"/>
          </a:xfrm>
        </p:grpSpPr>
        <p:sp>
          <p:nvSpPr>
            <p:cNvPr id="69" name="Google Shape;69;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 name="Google Shape;71;p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72" name="Google Shape;72;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73" name="Shape 73"/>
        <p:cNvGrpSpPr/>
        <p:nvPr/>
      </p:nvGrpSpPr>
      <p:grpSpPr>
        <a:xfrm>
          <a:off x="0" y="0"/>
          <a:ext cx="0" cy="0"/>
          <a:chOff x="0" y="0"/>
          <a:chExt cx="0" cy="0"/>
        </a:xfrm>
      </p:grpSpPr>
      <p:sp>
        <p:nvSpPr>
          <p:cNvPr id="74" name="Google Shape;74;p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 name="Google Shape;78;p9"/>
          <p:cNvGrpSpPr/>
          <p:nvPr/>
        </p:nvGrpSpPr>
        <p:grpSpPr>
          <a:xfrm>
            <a:off x="830392" y="1191256"/>
            <a:ext cx="745763" cy="45826"/>
            <a:chOff x="4580561" y="2589004"/>
            <a:chExt cx="1064464" cy="25200"/>
          </a:xfrm>
        </p:grpSpPr>
        <p:sp>
          <p:nvSpPr>
            <p:cNvPr id="79" name="Google Shape;79;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82" name="Google Shape;82;p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83" name="Google Shape;83;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84" name="Shape 84"/>
        <p:cNvGrpSpPr/>
        <p:nvPr/>
      </p:nvGrpSpPr>
      <p:grpSpPr>
        <a:xfrm>
          <a:off x="0" y="0"/>
          <a:ext cx="0" cy="0"/>
          <a:chOff x="0" y="0"/>
          <a:chExt cx="0" cy="0"/>
        </a:xfrm>
      </p:grpSpPr>
      <p:grpSp>
        <p:nvGrpSpPr>
          <p:cNvPr id="85" name="Google Shape;85;p10"/>
          <p:cNvGrpSpPr/>
          <p:nvPr/>
        </p:nvGrpSpPr>
        <p:grpSpPr>
          <a:xfrm>
            <a:off x="830392" y="4169130"/>
            <a:ext cx="745763" cy="45826"/>
            <a:chOff x="4580561" y="2589004"/>
            <a:chExt cx="1064464" cy="25200"/>
          </a:xfrm>
        </p:grpSpPr>
        <p:sp>
          <p:nvSpPr>
            <p:cNvPr id="86" name="Google Shape;86;p1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1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p:txBody>
      </p:sp>
      <p:sp>
        <p:nvSpPr>
          <p:cNvPr id="89" name="Google Shape;89;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1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 name="Google Shape;92;p11"/>
          <p:cNvGrpSpPr/>
          <p:nvPr/>
        </p:nvGrpSpPr>
        <p:grpSpPr>
          <a:xfrm>
            <a:off x="830392" y="1191256"/>
            <a:ext cx="745763" cy="45826"/>
            <a:chOff x="4580561" y="2589004"/>
            <a:chExt cx="1064464" cy="25200"/>
          </a:xfrm>
        </p:grpSpPr>
        <p:sp>
          <p:nvSpPr>
            <p:cNvPr id="93" name="Google Shape;93;p1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1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96" name="Google Shape;96;p1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97" name="Google Shape;97;p1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
    <p:spTree>
      <p:nvGrpSpPr>
        <p:cNvPr id="99" name="Shape 99"/>
        <p:cNvGrpSpPr/>
        <p:nvPr/>
      </p:nvGrpSpPr>
      <p:grpSpPr>
        <a:xfrm>
          <a:off x="0" y="0"/>
          <a:ext cx="0" cy="0"/>
          <a:chOff x="0" y="0"/>
          <a:chExt cx="0" cy="0"/>
        </a:xfrm>
      </p:grpSpPr>
      <p:pic>
        <p:nvPicPr>
          <p:cNvPr descr="Side view of hands writing in a notebook at a cafe" id="100" name="Google Shape;100;p12"/>
          <p:cNvPicPr preferRelativeResize="0"/>
          <p:nvPr/>
        </p:nvPicPr>
        <p:blipFill rotWithShape="1">
          <a:blip r:embed="rId2">
            <a:alphaModFix/>
          </a:blip>
          <a:srcRect b="26446" l="9050" r="54351" t="12064"/>
          <a:stretch/>
        </p:blipFill>
        <p:spPr>
          <a:xfrm>
            <a:off x="1" y="-50"/>
            <a:ext cx="4572000" cy="5143501"/>
          </a:xfrm>
          <a:prstGeom prst="rect">
            <a:avLst/>
          </a:prstGeom>
          <a:noFill/>
          <a:ln>
            <a:noFill/>
          </a:ln>
        </p:spPr>
      </p:pic>
      <p:sp>
        <p:nvSpPr>
          <p:cNvPr id="101" name="Google Shape;101;p12"/>
          <p:cNvSpPr/>
          <p:nvPr/>
        </p:nvSpPr>
        <p:spPr>
          <a:xfrm>
            <a:off x="1650" y="0"/>
            <a:ext cx="4568700" cy="5143500"/>
          </a:xfrm>
          <a:prstGeom prst="rect">
            <a:avLst/>
          </a:prstGeom>
          <a:solidFill>
            <a:srgbClr val="178D7D">
              <a:alpha val="68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2"/>
          <p:cNvGrpSpPr/>
          <p:nvPr/>
        </p:nvGrpSpPr>
        <p:grpSpPr>
          <a:xfrm>
            <a:off x="830392" y="1191256"/>
            <a:ext cx="745763" cy="45826"/>
            <a:chOff x="4580561" y="2589004"/>
            <a:chExt cx="1064464" cy="25200"/>
          </a:xfrm>
        </p:grpSpPr>
        <p:sp>
          <p:nvSpPr>
            <p:cNvPr id="103" name="Google Shape;103;p12"/>
            <p:cNvSpPr/>
            <p:nvPr/>
          </p:nvSpPr>
          <p:spPr>
            <a:xfrm rot="-5400000">
              <a:off x="5366325" y="2335504"/>
              <a:ext cx="25200" cy="532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2"/>
            <p:cNvSpPr/>
            <p:nvPr/>
          </p:nvSpPr>
          <p:spPr>
            <a:xfrm rot="-5400000">
              <a:off x="4836311" y="2333254"/>
              <a:ext cx="25200" cy="536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2"/>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000"/>
              <a:buNone/>
              <a:defRPr sz="3000">
                <a:solidFill>
                  <a:srgbClr val="FFFFFF"/>
                </a:solidFill>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p:txBody>
      </p:sp>
      <p:sp>
        <p:nvSpPr>
          <p:cNvPr id="106" name="Google Shape;106;p12"/>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600"/>
              <a:buNone/>
              <a:defRPr sz="1600">
                <a:solidFill>
                  <a:srgbClr val="FFFFFF"/>
                </a:solidFill>
              </a:defRPr>
            </a:lvl2pPr>
            <a:lvl3pPr lvl="2" rtl="0">
              <a:lnSpc>
                <a:spcPct val="100000"/>
              </a:lnSpc>
              <a:spcBef>
                <a:spcPts val="0"/>
              </a:spcBef>
              <a:spcAft>
                <a:spcPts val="0"/>
              </a:spcAft>
              <a:buClr>
                <a:srgbClr val="FFFFFF"/>
              </a:buClr>
              <a:buSzPts val="1600"/>
              <a:buNone/>
              <a:defRPr sz="1600">
                <a:solidFill>
                  <a:srgbClr val="FFFFFF"/>
                </a:solidFill>
              </a:defRPr>
            </a:lvl3pPr>
            <a:lvl4pPr lvl="3" rtl="0">
              <a:lnSpc>
                <a:spcPct val="100000"/>
              </a:lnSpc>
              <a:spcBef>
                <a:spcPts val="0"/>
              </a:spcBef>
              <a:spcAft>
                <a:spcPts val="0"/>
              </a:spcAft>
              <a:buClr>
                <a:srgbClr val="FFFFFF"/>
              </a:buClr>
              <a:buSzPts val="1600"/>
              <a:buNone/>
              <a:defRPr sz="1600">
                <a:solidFill>
                  <a:srgbClr val="FFFFFF"/>
                </a:solidFill>
              </a:defRPr>
            </a:lvl4pPr>
            <a:lvl5pPr lvl="4" rtl="0">
              <a:lnSpc>
                <a:spcPct val="100000"/>
              </a:lnSpc>
              <a:spcBef>
                <a:spcPts val="0"/>
              </a:spcBef>
              <a:spcAft>
                <a:spcPts val="0"/>
              </a:spcAft>
              <a:buClr>
                <a:srgbClr val="FFFFFF"/>
              </a:buClr>
              <a:buSzPts val="1600"/>
              <a:buNone/>
              <a:defRPr sz="1600">
                <a:solidFill>
                  <a:srgbClr val="FFFFFF"/>
                </a:solidFill>
              </a:defRPr>
            </a:lvl5pPr>
            <a:lvl6pPr lvl="5" rtl="0">
              <a:lnSpc>
                <a:spcPct val="100000"/>
              </a:lnSpc>
              <a:spcBef>
                <a:spcPts val="0"/>
              </a:spcBef>
              <a:spcAft>
                <a:spcPts val="0"/>
              </a:spcAft>
              <a:buClr>
                <a:srgbClr val="FFFFFF"/>
              </a:buClr>
              <a:buSzPts val="1600"/>
              <a:buNone/>
              <a:defRPr sz="1600">
                <a:solidFill>
                  <a:srgbClr val="FFFFFF"/>
                </a:solidFill>
              </a:defRPr>
            </a:lvl6pPr>
            <a:lvl7pPr lvl="6" rtl="0">
              <a:lnSpc>
                <a:spcPct val="100000"/>
              </a:lnSpc>
              <a:spcBef>
                <a:spcPts val="0"/>
              </a:spcBef>
              <a:spcAft>
                <a:spcPts val="0"/>
              </a:spcAft>
              <a:buClr>
                <a:srgbClr val="FFFFFF"/>
              </a:buClr>
              <a:buSzPts val="1600"/>
              <a:buNone/>
              <a:defRPr sz="1600">
                <a:solidFill>
                  <a:srgbClr val="FFFFFF"/>
                </a:solidFill>
              </a:defRPr>
            </a:lvl7pPr>
            <a:lvl8pPr lvl="7" rtl="0">
              <a:lnSpc>
                <a:spcPct val="100000"/>
              </a:lnSpc>
              <a:spcBef>
                <a:spcPts val="0"/>
              </a:spcBef>
              <a:spcAft>
                <a:spcPts val="0"/>
              </a:spcAft>
              <a:buClr>
                <a:srgbClr val="FFFFFF"/>
              </a:buClr>
              <a:buSzPts val="1600"/>
              <a:buNone/>
              <a:defRPr sz="1600">
                <a:solidFill>
                  <a:srgbClr val="FFFFFF"/>
                </a:solidFill>
              </a:defRPr>
            </a:lvl8pPr>
            <a:lvl9pPr lvl="8" rtl="0">
              <a:lnSpc>
                <a:spcPct val="100000"/>
              </a:lnSpc>
              <a:spcBef>
                <a:spcPts val="0"/>
              </a:spcBef>
              <a:spcAft>
                <a:spcPts val="0"/>
              </a:spcAft>
              <a:buClr>
                <a:srgbClr val="FFFFFF"/>
              </a:buClr>
              <a:buSzPts val="1600"/>
              <a:buNone/>
              <a:defRPr sz="1600">
                <a:solidFill>
                  <a:srgbClr val="FFFFFF"/>
                </a:solidFill>
              </a:defRPr>
            </a:lvl9pPr>
          </a:lstStyle>
          <a:p/>
        </p:txBody>
      </p:sp>
      <p:sp>
        <p:nvSpPr>
          <p:cNvPr id="107" name="Google Shape;107;p12"/>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8" name="Google Shape;108;p12"/>
          <p:cNvSpPr txBox="1"/>
          <p:nvPr>
            <p:ph idx="12" type="sldNum"/>
          </p:nvPr>
        </p:nvSpPr>
        <p:spPr>
          <a:xfrm>
            <a:off x="8536300" y="4749850"/>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2">
  <p:cSld name="SECTION_TITLE_AND_DESCRIPTION_1_2">
    <p:spTree>
      <p:nvGrpSpPr>
        <p:cNvPr id="109" name="Shape 109"/>
        <p:cNvGrpSpPr/>
        <p:nvPr/>
      </p:nvGrpSpPr>
      <p:grpSpPr>
        <a:xfrm>
          <a:off x="0" y="0"/>
          <a:ext cx="0" cy="0"/>
          <a:chOff x="0" y="0"/>
          <a:chExt cx="0" cy="0"/>
        </a:xfrm>
      </p:grpSpPr>
      <p:pic>
        <p:nvPicPr>
          <p:cNvPr id="110" name="Google Shape;110;p13"/>
          <p:cNvPicPr preferRelativeResize="0"/>
          <p:nvPr/>
        </p:nvPicPr>
        <p:blipFill rotWithShape="1">
          <a:blip r:embed="rId2">
            <a:alphaModFix/>
          </a:blip>
          <a:srcRect b="0" l="31883" r="25713" t="8096"/>
          <a:stretch/>
        </p:blipFill>
        <p:spPr>
          <a:xfrm>
            <a:off x="0" y="0"/>
            <a:ext cx="4575250" cy="5143500"/>
          </a:xfrm>
          <a:prstGeom prst="rect">
            <a:avLst/>
          </a:prstGeom>
          <a:noFill/>
          <a:ln>
            <a:noFill/>
          </a:ln>
        </p:spPr>
      </p:pic>
      <p:sp>
        <p:nvSpPr>
          <p:cNvPr id="111" name="Google Shape;111;p13"/>
          <p:cNvSpPr/>
          <p:nvPr/>
        </p:nvSpPr>
        <p:spPr>
          <a:xfrm>
            <a:off x="-75" y="0"/>
            <a:ext cx="4572000" cy="5143500"/>
          </a:xfrm>
          <a:prstGeom prst="rect">
            <a:avLst/>
          </a:prstGeom>
          <a:solidFill>
            <a:srgbClr val="178D7D">
              <a:alpha val="68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 name="Google Shape;112;p13"/>
          <p:cNvGrpSpPr/>
          <p:nvPr/>
        </p:nvGrpSpPr>
        <p:grpSpPr>
          <a:xfrm>
            <a:off x="830392" y="1191256"/>
            <a:ext cx="745763" cy="45826"/>
            <a:chOff x="4580561" y="2589004"/>
            <a:chExt cx="1064464" cy="25200"/>
          </a:xfrm>
        </p:grpSpPr>
        <p:sp>
          <p:nvSpPr>
            <p:cNvPr id="113" name="Google Shape;113;p13"/>
            <p:cNvSpPr/>
            <p:nvPr/>
          </p:nvSpPr>
          <p:spPr>
            <a:xfrm rot="-5400000">
              <a:off x="5366325" y="2335504"/>
              <a:ext cx="25200" cy="532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3"/>
            <p:cNvSpPr/>
            <p:nvPr/>
          </p:nvSpPr>
          <p:spPr>
            <a:xfrm rot="-5400000">
              <a:off x="4836311" y="2333254"/>
              <a:ext cx="25200" cy="536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13"/>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000"/>
              <a:buNone/>
              <a:defRPr sz="3000">
                <a:solidFill>
                  <a:srgbClr val="FFFFFF"/>
                </a:solidFill>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p:txBody>
      </p:sp>
      <p:sp>
        <p:nvSpPr>
          <p:cNvPr id="116" name="Google Shape;116;p13"/>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600"/>
              <a:buNone/>
              <a:defRPr sz="1600">
                <a:solidFill>
                  <a:srgbClr val="FFFFFF"/>
                </a:solidFill>
              </a:defRPr>
            </a:lvl2pPr>
            <a:lvl3pPr lvl="2" rtl="0">
              <a:lnSpc>
                <a:spcPct val="100000"/>
              </a:lnSpc>
              <a:spcBef>
                <a:spcPts val="0"/>
              </a:spcBef>
              <a:spcAft>
                <a:spcPts val="0"/>
              </a:spcAft>
              <a:buClr>
                <a:srgbClr val="FFFFFF"/>
              </a:buClr>
              <a:buSzPts val="1600"/>
              <a:buNone/>
              <a:defRPr sz="1600">
                <a:solidFill>
                  <a:srgbClr val="FFFFFF"/>
                </a:solidFill>
              </a:defRPr>
            </a:lvl3pPr>
            <a:lvl4pPr lvl="3" rtl="0">
              <a:lnSpc>
                <a:spcPct val="100000"/>
              </a:lnSpc>
              <a:spcBef>
                <a:spcPts val="0"/>
              </a:spcBef>
              <a:spcAft>
                <a:spcPts val="0"/>
              </a:spcAft>
              <a:buClr>
                <a:srgbClr val="FFFFFF"/>
              </a:buClr>
              <a:buSzPts val="1600"/>
              <a:buNone/>
              <a:defRPr sz="1600">
                <a:solidFill>
                  <a:srgbClr val="FFFFFF"/>
                </a:solidFill>
              </a:defRPr>
            </a:lvl4pPr>
            <a:lvl5pPr lvl="4" rtl="0">
              <a:lnSpc>
                <a:spcPct val="100000"/>
              </a:lnSpc>
              <a:spcBef>
                <a:spcPts val="0"/>
              </a:spcBef>
              <a:spcAft>
                <a:spcPts val="0"/>
              </a:spcAft>
              <a:buClr>
                <a:srgbClr val="FFFFFF"/>
              </a:buClr>
              <a:buSzPts val="1600"/>
              <a:buNone/>
              <a:defRPr sz="1600">
                <a:solidFill>
                  <a:srgbClr val="FFFFFF"/>
                </a:solidFill>
              </a:defRPr>
            </a:lvl5pPr>
            <a:lvl6pPr lvl="5" rtl="0">
              <a:lnSpc>
                <a:spcPct val="100000"/>
              </a:lnSpc>
              <a:spcBef>
                <a:spcPts val="0"/>
              </a:spcBef>
              <a:spcAft>
                <a:spcPts val="0"/>
              </a:spcAft>
              <a:buClr>
                <a:srgbClr val="FFFFFF"/>
              </a:buClr>
              <a:buSzPts val="1600"/>
              <a:buNone/>
              <a:defRPr sz="1600">
                <a:solidFill>
                  <a:srgbClr val="FFFFFF"/>
                </a:solidFill>
              </a:defRPr>
            </a:lvl6pPr>
            <a:lvl7pPr lvl="6" rtl="0">
              <a:lnSpc>
                <a:spcPct val="100000"/>
              </a:lnSpc>
              <a:spcBef>
                <a:spcPts val="0"/>
              </a:spcBef>
              <a:spcAft>
                <a:spcPts val="0"/>
              </a:spcAft>
              <a:buClr>
                <a:srgbClr val="FFFFFF"/>
              </a:buClr>
              <a:buSzPts val="1600"/>
              <a:buNone/>
              <a:defRPr sz="1600">
                <a:solidFill>
                  <a:srgbClr val="FFFFFF"/>
                </a:solidFill>
              </a:defRPr>
            </a:lvl7pPr>
            <a:lvl8pPr lvl="7" rtl="0">
              <a:lnSpc>
                <a:spcPct val="100000"/>
              </a:lnSpc>
              <a:spcBef>
                <a:spcPts val="0"/>
              </a:spcBef>
              <a:spcAft>
                <a:spcPts val="0"/>
              </a:spcAft>
              <a:buClr>
                <a:srgbClr val="FFFFFF"/>
              </a:buClr>
              <a:buSzPts val="1600"/>
              <a:buNone/>
              <a:defRPr sz="1600">
                <a:solidFill>
                  <a:srgbClr val="FFFFFF"/>
                </a:solidFill>
              </a:defRPr>
            </a:lvl8pPr>
            <a:lvl9pPr lvl="8" rtl="0">
              <a:lnSpc>
                <a:spcPct val="100000"/>
              </a:lnSpc>
              <a:spcBef>
                <a:spcPts val="0"/>
              </a:spcBef>
              <a:spcAft>
                <a:spcPts val="0"/>
              </a:spcAft>
              <a:buClr>
                <a:srgbClr val="FFFFFF"/>
              </a:buClr>
              <a:buSzPts val="1600"/>
              <a:buNone/>
              <a:defRPr sz="1600">
                <a:solidFill>
                  <a:srgbClr val="FFFFFF"/>
                </a:solidFill>
              </a:defRPr>
            </a:lvl9pPr>
          </a:lstStyle>
          <a:p/>
        </p:txBody>
      </p:sp>
      <p:sp>
        <p:nvSpPr>
          <p:cNvPr id="117" name="Google Shape;117;p13"/>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8" name="Google Shape;118;p1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9" name="Shape 119"/>
        <p:cNvGrpSpPr/>
        <p:nvPr/>
      </p:nvGrpSpPr>
      <p:grpSpPr>
        <a:xfrm>
          <a:off x="0" y="0"/>
          <a:ext cx="0" cy="0"/>
          <a:chOff x="0" y="0"/>
          <a:chExt cx="0" cy="0"/>
        </a:xfrm>
      </p:grpSpPr>
      <p:sp>
        <p:nvSpPr>
          <p:cNvPr id="120" name="Google Shape;120;p14"/>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21" name="Google Shape;121;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22" name="Shape 122"/>
        <p:cNvGrpSpPr/>
        <p:nvPr/>
      </p:nvGrpSpPr>
      <p:grpSpPr>
        <a:xfrm>
          <a:off x="0" y="0"/>
          <a:ext cx="0" cy="0"/>
          <a:chOff x="0" y="0"/>
          <a:chExt cx="0" cy="0"/>
        </a:xfrm>
      </p:grpSpPr>
      <p:grpSp>
        <p:nvGrpSpPr>
          <p:cNvPr id="123" name="Google Shape;123;p15"/>
          <p:cNvGrpSpPr/>
          <p:nvPr/>
        </p:nvGrpSpPr>
        <p:grpSpPr>
          <a:xfrm>
            <a:off x="830392" y="4169130"/>
            <a:ext cx="745763" cy="45826"/>
            <a:chOff x="4580561" y="2589004"/>
            <a:chExt cx="1064464" cy="25200"/>
          </a:xfrm>
        </p:grpSpPr>
        <p:sp>
          <p:nvSpPr>
            <p:cNvPr id="124" name="Google Shape;124;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 name="Google Shape;126;p15"/>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27" name="Google Shape;127;p15"/>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128" name="Google Shape;128;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7"/>
          <p:cNvSpPr txBox="1"/>
          <p:nvPr>
            <p:ph type="ctrTitle"/>
          </p:nvPr>
        </p:nvSpPr>
        <p:spPr>
          <a:xfrm>
            <a:off x="429125" y="1446600"/>
            <a:ext cx="3973200" cy="25299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A9988"/>
                </a:solidFill>
              </a:rPr>
              <a:t>World Happiness</a:t>
            </a:r>
            <a:endParaRPr>
              <a:solidFill>
                <a:srgbClr val="1A9988"/>
              </a:solidFill>
            </a:endParaRPr>
          </a:p>
          <a:p>
            <a:pPr indent="0" lvl="0" marL="0" rtl="0" algn="l">
              <a:spcBef>
                <a:spcPts val="0"/>
              </a:spcBef>
              <a:spcAft>
                <a:spcPts val="0"/>
              </a:spcAft>
              <a:buNone/>
            </a:pPr>
            <a:r>
              <a:rPr lang="en">
                <a:solidFill>
                  <a:srgbClr val="1A9988"/>
                </a:solidFill>
              </a:rPr>
              <a:t>Prediction</a:t>
            </a:r>
            <a:endParaRPr>
              <a:solidFill>
                <a:srgbClr val="1A9988"/>
              </a:solidFill>
            </a:endParaRPr>
          </a:p>
        </p:txBody>
      </p:sp>
      <p:sp>
        <p:nvSpPr>
          <p:cNvPr id="136" name="Google Shape;136;p17"/>
          <p:cNvSpPr txBox="1"/>
          <p:nvPr>
            <p:ph idx="1" type="subTitle"/>
          </p:nvPr>
        </p:nvSpPr>
        <p:spPr>
          <a:xfrm>
            <a:off x="429125" y="3236350"/>
            <a:ext cx="3787800" cy="82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By: Bushra N. </a:t>
            </a:r>
            <a:endParaRPr>
              <a:solidFill>
                <a:schemeClr val="dk1"/>
              </a:solidFill>
            </a:endParaRPr>
          </a:p>
        </p:txBody>
      </p:sp>
      <p:pic>
        <p:nvPicPr>
          <p:cNvPr id="137" name="Google Shape;137;p17"/>
          <p:cNvPicPr preferRelativeResize="0"/>
          <p:nvPr/>
        </p:nvPicPr>
        <p:blipFill>
          <a:blip r:embed="rId3">
            <a:alphaModFix/>
          </a:blip>
          <a:stretch>
            <a:fillRect/>
          </a:stretch>
        </p:blipFill>
        <p:spPr>
          <a:xfrm>
            <a:off x="5462250" y="2124800"/>
            <a:ext cx="2887775" cy="2887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8"/>
          <p:cNvSpPr txBox="1"/>
          <p:nvPr>
            <p:ph type="title"/>
          </p:nvPr>
        </p:nvSpPr>
        <p:spPr>
          <a:xfrm>
            <a:off x="730000" y="1318650"/>
            <a:ext cx="2982900" cy="168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Problem</a:t>
            </a:r>
            <a:endParaRPr sz="3000"/>
          </a:p>
        </p:txBody>
      </p:sp>
      <p:sp>
        <p:nvSpPr>
          <p:cNvPr id="143" name="Google Shape;143;p18"/>
          <p:cNvSpPr txBox="1"/>
          <p:nvPr>
            <p:ph idx="2" type="body"/>
          </p:nvPr>
        </p:nvSpPr>
        <p:spPr>
          <a:xfrm>
            <a:off x="4572000" y="319475"/>
            <a:ext cx="4363500" cy="50493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1200"/>
              </a:spcBef>
              <a:spcAft>
                <a:spcPts val="0"/>
              </a:spcAft>
              <a:buClr>
                <a:schemeClr val="dk1"/>
              </a:buClr>
              <a:buSzPts val="1600"/>
              <a:buChar char="●"/>
            </a:pPr>
            <a:r>
              <a:rPr b="1" lang="en" sz="1600">
                <a:solidFill>
                  <a:schemeClr val="dk1"/>
                </a:solidFill>
              </a:rPr>
              <a:t>What makes people happy? Mental health and well-being are gaining global attention</a:t>
            </a:r>
            <a:endParaRPr b="1" sz="1600">
              <a:solidFill>
                <a:schemeClr val="dk1"/>
              </a:solidFill>
            </a:endParaRPr>
          </a:p>
          <a:p>
            <a:pPr indent="-330200" lvl="0" marL="457200" rtl="0" algn="l">
              <a:lnSpc>
                <a:spcPct val="150000"/>
              </a:lnSpc>
              <a:spcBef>
                <a:spcPts val="0"/>
              </a:spcBef>
              <a:spcAft>
                <a:spcPts val="0"/>
              </a:spcAft>
              <a:buClr>
                <a:schemeClr val="dk1"/>
              </a:buClr>
              <a:buSzPts val="1600"/>
              <a:buChar char="●"/>
            </a:pPr>
            <a:r>
              <a:rPr b="1" lang="en" sz="1600">
                <a:solidFill>
                  <a:schemeClr val="dk1"/>
                </a:solidFill>
              </a:rPr>
              <a:t>Inspired to analyze happiness through the following factors:</a:t>
            </a:r>
            <a:endParaRPr b="1" sz="1600">
              <a:solidFill>
                <a:schemeClr val="dk1"/>
              </a:solidFill>
            </a:endParaRPr>
          </a:p>
          <a:p>
            <a:pPr indent="-330200" lvl="1" marL="914400" rtl="0" algn="l">
              <a:lnSpc>
                <a:spcPct val="150000"/>
              </a:lnSpc>
              <a:spcBef>
                <a:spcPts val="0"/>
              </a:spcBef>
              <a:spcAft>
                <a:spcPts val="0"/>
              </a:spcAft>
              <a:buClr>
                <a:schemeClr val="dk1"/>
              </a:buClr>
              <a:buSzPts val="1600"/>
              <a:buChar char="○"/>
            </a:pPr>
            <a:r>
              <a:rPr b="1" lang="en" sz="1600">
                <a:solidFill>
                  <a:schemeClr val="dk1"/>
                </a:solidFill>
              </a:rPr>
              <a:t>Econom</a:t>
            </a:r>
            <a:r>
              <a:rPr b="1" lang="en" sz="1600">
                <a:solidFill>
                  <a:schemeClr val="dk1"/>
                </a:solidFill>
              </a:rPr>
              <a:t>ic</a:t>
            </a:r>
            <a:endParaRPr b="1" sz="1600">
              <a:solidFill>
                <a:schemeClr val="dk1"/>
              </a:solidFill>
            </a:endParaRPr>
          </a:p>
          <a:p>
            <a:pPr indent="-330200" lvl="1" marL="914400" rtl="0" algn="l">
              <a:lnSpc>
                <a:spcPct val="150000"/>
              </a:lnSpc>
              <a:spcBef>
                <a:spcPts val="0"/>
              </a:spcBef>
              <a:spcAft>
                <a:spcPts val="0"/>
              </a:spcAft>
              <a:buClr>
                <a:schemeClr val="dk1"/>
              </a:buClr>
              <a:buSzPts val="1600"/>
              <a:buChar char="○"/>
            </a:pPr>
            <a:r>
              <a:rPr b="1" lang="en" sz="1600">
                <a:solidFill>
                  <a:schemeClr val="dk1"/>
                </a:solidFill>
              </a:rPr>
              <a:t>Social</a:t>
            </a:r>
            <a:endParaRPr b="1" sz="1600">
              <a:solidFill>
                <a:schemeClr val="dk1"/>
              </a:solidFill>
            </a:endParaRPr>
          </a:p>
          <a:p>
            <a:pPr indent="-330200" lvl="1" marL="914400" rtl="0" algn="l">
              <a:lnSpc>
                <a:spcPct val="150000"/>
              </a:lnSpc>
              <a:spcBef>
                <a:spcPts val="0"/>
              </a:spcBef>
              <a:spcAft>
                <a:spcPts val="0"/>
              </a:spcAft>
              <a:buClr>
                <a:schemeClr val="dk1"/>
              </a:buClr>
              <a:buSzPts val="1600"/>
              <a:buChar char="○"/>
            </a:pPr>
            <a:r>
              <a:rPr b="1" lang="en" sz="1600">
                <a:solidFill>
                  <a:schemeClr val="dk1"/>
                </a:solidFill>
              </a:rPr>
              <a:t>Emotional </a:t>
            </a:r>
            <a:endParaRPr b="1" sz="1600">
              <a:solidFill>
                <a:schemeClr val="dk1"/>
              </a:solidFill>
            </a:endParaRPr>
          </a:p>
          <a:p>
            <a:pPr indent="-330200" lvl="1" marL="914400" rtl="0" algn="l">
              <a:lnSpc>
                <a:spcPct val="150000"/>
              </a:lnSpc>
              <a:spcBef>
                <a:spcPts val="0"/>
              </a:spcBef>
              <a:spcAft>
                <a:spcPts val="0"/>
              </a:spcAft>
              <a:buClr>
                <a:schemeClr val="dk1"/>
              </a:buClr>
              <a:buSzPts val="1600"/>
              <a:buChar char="○"/>
            </a:pPr>
            <a:r>
              <a:rPr b="1" lang="en" sz="1600">
                <a:solidFill>
                  <a:schemeClr val="dk1"/>
                </a:solidFill>
              </a:rPr>
              <a:t>Political </a:t>
            </a:r>
            <a:endParaRPr b="1" sz="1600">
              <a:solidFill>
                <a:schemeClr val="dk1"/>
              </a:solidFill>
            </a:endParaRPr>
          </a:p>
          <a:p>
            <a:pPr indent="-330200" lvl="0" marL="457200" rtl="0" algn="l">
              <a:lnSpc>
                <a:spcPct val="150000"/>
              </a:lnSpc>
              <a:spcBef>
                <a:spcPts val="0"/>
              </a:spcBef>
              <a:spcAft>
                <a:spcPts val="0"/>
              </a:spcAft>
              <a:buClr>
                <a:schemeClr val="dk1"/>
              </a:buClr>
              <a:buSzPts val="1600"/>
              <a:buChar char="●"/>
            </a:pPr>
            <a:r>
              <a:rPr b="1" lang="en" sz="1600">
                <a:solidFill>
                  <a:schemeClr val="dk1"/>
                </a:solidFill>
              </a:rPr>
              <a:t>Research can be used to improve societal/public  infrastructures</a:t>
            </a:r>
            <a:endParaRPr b="1" sz="16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txBox="1"/>
          <p:nvPr>
            <p:ph type="title"/>
          </p:nvPr>
        </p:nvSpPr>
        <p:spPr>
          <a:xfrm>
            <a:off x="730000" y="1318650"/>
            <a:ext cx="2416200" cy="168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Overview</a:t>
            </a:r>
            <a:endParaRPr sz="3000"/>
          </a:p>
        </p:txBody>
      </p:sp>
      <p:sp>
        <p:nvSpPr>
          <p:cNvPr id="149" name="Google Shape;149;p19"/>
          <p:cNvSpPr txBox="1"/>
          <p:nvPr>
            <p:ph idx="2" type="body"/>
          </p:nvPr>
        </p:nvSpPr>
        <p:spPr>
          <a:xfrm>
            <a:off x="4757425" y="640350"/>
            <a:ext cx="4258200" cy="41994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1200"/>
              </a:spcBef>
              <a:spcAft>
                <a:spcPts val="0"/>
              </a:spcAft>
              <a:buClr>
                <a:schemeClr val="dk1"/>
              </a:buClr>
              <a:buSzPts val="1600"/>
              <a:buFont typeface="Arial"/>
              <a:buChar char="●"/>
            </a:pPr>
            <a:r>
              <a:rPr b="1" lang="en" sz="1600">
                <a:solidFill>
                  <a:schemeClr val="dk1"/>
                </a:solidFill>
              </a:rPr>
              <a:t>Source: Github (raw data)</a:t>
            </a:r>
            <a:endParaRPr b="1" sz="1600">
              <a:solidFill>
                <a:schemeClr val="dk1"/>
              </a:solidFill>
            </a:endParaRPr>
          </a:p>
          <a:p>
            <a:pPr indent="-330200" lvl="0" marL="457200" rtl="0" algn="l">
              <a:lnSpc>
                <a:spcPct val="150000"/>
              </a:lnSpc>
              <a:spcBef>
                <a:spcPts val="0"/>
              </a:spcBef>
              <a:spcAft>
                <a:spcPts val="0"/>
              </a:spcAft>
              <a:buClr>
                <a:schemeClr val="dk1"/>
              </a:buClr>
              <a:buSzPts val="1600"/>
              <a:buFont typeface="Arial"/>
              <a:buChar char="●"/>
            </a:pPr>
            <a:r>
              <a:rPr b="1" lang="en" sz="1600">
                <a:solidFill>
                  <a:schemeClr val="dk1"/>
                </a:solidFill>
              </a:rPr>
              <a:t>Collected between 2005 and 2021</a:t>
            </a:r>
            <a:endParaRPr b="1" sz="1600">
              <a:solidFill>
                <a:schemeClr val="dk1"/>
              </a:solidFill>
            </a:endParaRPr>
          </a:p>
          <a:p>
            <a:pPr indent="-330200" lvl="0" marL="457200" rtl="0" algn="l">
              <a:lnSpc>
                <a:spcPct val="150000"/>
              </a:lnSpc>
              <a:spcBef>
                <a:spcPts val="0"/>
              </a:spcBef>
              <a:spcAft>
                <a:spcPts val="0"/>
              </a:spcAft>
              <a:buClr>
                <a:schemeClr val="dk1"/>
              </a:buClr>
              <a:buSzPts val="1600"/>
              <a:buFont typeface="Arial"/>
              <a:buChar char="●"/>
            </a:pPr>
            <a:r>
              <a:rPr b="1" lang="en" sz="1600">
                <a:solidFill>
                  <a:schemeClr val="dk1"/>
                </a:solidFill>
              </a:rPr>
              <a:t>2,089 records and 12 columns</a:t>
            </a:r>
            <a:endParaRPr b="1" sz="1600">
              <a:solidFill>
                <a:schemeClr val="dk1"/>
              </a:solidFill>
            </a:endParaRPr>
          </a:p>
          <a:p>
            <a:pPr indent="-330200" lvl="0" marL="457200" rtl="0" algn="l">
              <a:lnSpc>
                <a:spcPct val="150000"/>
              </a:lnSpc>
              <a:spcBef>
                <a:spcPts val="0"/>
              </a:spcBef>
              <a:spcAft>
                <a:spcPts val="0"/>
              </a:spcAft>
              <a:buClr>
                <a:schemeClr val="dk1"/>
              </a:buClr>
              <a:buSzPts val="1600"/>
              <a:buFont typeface="Arial"/>
              <a:buChar char="●"/>
            </a:pPr>
            <a:r>
              <a:rPr b="1" lang="en" sz="1600">
                <a:solidFill>
                  <a:schemeClr val="dk1"/>
                </a:solidFill>
              </a:rPr>
              <a:t>Target: Happiness Score (0–8 scale)</a:t>
            </a:r>
            <a:endParaRPr b="1" sz="1600">
              <a:solidFill>
                <a:schemeClr val="dk1"/>
              </a:solidFill>
            </a:endParaRPr>
          </a:p>
          <a:p>
            <a:pPr indent="-330200" lvl="0" marL="457200" rtl="0" algn="l">
              <a:lnSpc>
                <a:spcPct val="150000"/>
              </a:lnSpc>
              <a:spcBef>
                <a:spcPts val="0"/>
              </a:spcBef>
              <a:spcAft>
                <a:spcPts val="0"/>
              </a:spcAft>
              <a:buClr>
                <a:schemeClr val="dk1"/>
              </a:buClr>
              <a:buSzPts val="1600"/>
              <a:buFont typeface="Lato"/>
              <a:buChar char="●"/>
            </a:pPr>
            <a:r>
              <a:rPr b="1" lang="en" sz="1600">
                <a:solidFill>
                  <a:schemeClr val="dk1"/>
                </a:solidFill>
              </a:rPr>
              <a:t>Key predictors: Wealth (log GDP), Social Support, Life Expectancy, Freedom, Generosity, Trust in Government, etc.</a:t>
            </a:r>
            <a:endParaRPr b="1" sz="1600">
              <a:solidFill>
                <a:schemeClr val="dk1"/>
              </a:solidFill>
            </a:endParaRPr>
          </a:p>
          <a:p>
            <a:pPr indent="-330200" lvl="0" marL="457200" rtl="0" algn="l">
              <a:lnSpc>
                <a:spcPct val="150000"/>
              </a:lnSpc>
              <a:spcBef>
                <a:spcPts val="0"/>
              </a:spcBef>
              <a:spcAft>
                <a:spcPts val="0"/>
              </a:spcAft>
              <a:buClr>
                <a:schemeClr val="dk1"/>
              </a:buClr>
              <a:buSzPts val="1600"/>
              <a:buFont typeface="Lato"/>
              <a:buChar char="●"/>
            </a:pPr>
            <a:r>
              <a:rPr b="1" lang="en" sz="1600">
                <a:solidFill>
                  <a:schemeClr val="dk1"/>
                </a:solidFill>
              </a:rPr>
              <a:t>Most data scaled 0–1</a:t>
            </a:r>
            <a:endParaRPr b="1" sz="1600">
              <a:solidFill>
                <a:schemeClr val="dk1"/>
              </a:solidFill>
            </a:endParaRPr>
          </a:p>
          <a:p>
            <a:pPr indent="0" lvl="0" marL="0" rtl="0" algn="l">
              <a:lnSpc>
                <a:spcPct val="150000"/>
              </a:lnSpc>
              <a:spcBef>
                <a:spcPts val="1200"/>
              </a:spcBef>
              <a:spcAft>
                <a:spcPts val="1600"/>
              </a:spcAft>
              <a:buNone/>
            </a:pPr>
            <a:r>
              <a:t/>
            </a:r>
            <a:endParaRPr b="1" sz="16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3" name="Shape 153"/>
        <p:cNvGrpSpPr/>
        <p:nvPr/>
      </p:nvGrpSpPr>
      <p:grpSpPr>
        <a:xfrm>
          <a:off x="0" y="0"/>
          <a:ext cx="0" cy="0"/>
          <a:chOff x="0" y="0"/>
          <a:chExt cx="0" cy="0"/>
        </a:xfrm>
      </p:grpSpPr>
      <p:sp>
        <p:nvSpPr>
          <p:cNvPr id="154" name="Google Shape;154;p20"/>
          <p:cNvSpPr txBox="1"/>
          <p:nvPr>
            <p:ph type="title"/>
          </p:nvPr>
        </p:nvSpPr>
        <p:spPr>
          <a:xfrm>
            <a:off x="729450" y="1322450"/>
            <a:ext cx="29850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a:t>
            </a:r>
            <a:endParaRPr/>
          </a:p>
          <a:p>
            <a:pPr indent="0" lvl="0" marL="0" rtl="0" algn="l">
              <a:spcBef>
                <a:spcPts val="0"/>
              </a:spcBef>
              <a:spcAft>
                <a:spcPts val="0"/>
              </a:spcAft>
              <a:buNone/>
            </a:pPr>
            <a:r>
              <a:rPr lang="en"/>
              <a:t>Strategy</a:t>
            </a:r>
            <a:endParaRPr/>
          </a:p>
        </p:txBody>
      </p:sp>
      <p:sp>
        <p:nvSpPr>
          <p:cNvPr id="155" name="Google Shape;155;p20"/>
          <p:cNvSpPr/>
          <p:nvPr/>
        </p:nvSpPr>
        <p:spPr>
          <a:xfrm>
            <a:off x="3308550" y="193650"/>
            <a:ext cx="5642400" cy="4756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330200" lvl="0" marL="457200" rtl="0" algn="l">
              <a:spcBef>
                <a:spcPts val="0"/>
              </a:spcBef>
              <a:spcAft>
                <a:spcPts val="0"/>
              </a:spcAft>
              <a:buClr>
                <a:schemeClr val="dk1"/>
              </a:buClr>
              <a:buSzPts val="1600"/>
              <a:buFont typeface="Lato"/>
              <a:buChar char="●"/>
            </a:pPr>
            <a:r>
              <a:rPr b="1" lang="en" sz="1600" u="sng">
                <a:solidFill>
                  <a:schemeClr val="dk1"/>
                </a:solidFill>
                <a:latin typeface="Lato"/>
                <a:ea typeface="Lato"/>
                <a:cs typeface="Lato"/>
                <a:sym typeface="Lato"/>
              </a:rPr>
              <a:t>Step 1:</a:t>
            </a:r>
            <a:r>
              <a:rPr b="1" lang="en" sz="1600">
                <a:solidFill>
                  <a:schemeClr val="dk1"/>
                </a:solidFill>
                <a:latin typeface="Lato"/>
                <a:ea typeface="Lato"/>
                <a:cs typeface="Lato"/>
                <a:sym typeface="Lato"/>
              </a:rPr>
              <a:t> Data Cleaning &amp; Preprocessing</a:t>
            </a:r>
            <a:br>
              <a:rPr b="1" lang="en" sz="1600">
                <a:solidFill>
                  <a:schemeClr val="dk1"/>
                </a:solidFill>
                <a:latin typeface="Lato"/>
                <a:ea typeface="Lato"/>
                <a:cs typeface="Lato"/>
                <a:sym typeface="Lato"/>
              </a:rPr>
            </a:br>
            <a:endParaRPr b="1"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Font typeface="Lato"/>
              <a:buChar char="●"/>
            </a:pPr>
            <a:r>
              <a:rPr b="1" lang="en" sz="1600" u="sng">
                <a:solidFill>
                  <a:schemeClr val="dk1"/>
                </a:solidFill>
                <a:latin typeface="Lato"/>
                <a:ea typeface="Lato"/>
                <a:cs typeface="Lato"/>
                <a:sym typeface="Lato"/>
              </a:rPr>
              <a:t>Step 2: </a:t>
            </a:r>
            <a:r>
              <a:rPr b="1" lang="en" sz="1600">
                <a:solidFill>
                  <a:schemeClr val="dk1"/>
                </a:solidFill>
                <a:latin typeface="Lato"/>
                <a:ea typeface="Lato"/>
                <a:cs typeface="Lato"/>
                <a:sym typeface="Lato"/>
              </a:rPr>
              <a:t>Exploratory Data Analysis to identify key factors</a:t>
            </a:r>
            <a:br>
              <a:rPr b="1" lang="en" sz="1600">
                <a:solidFill>
                  <a:schemeClr val="dk1"/>
                </a:solidFill>
                <a:latin typeface="Lato"/>
                <a:ea typeface="Lato"/>
                <a:cs typeface="Lato"/>
                <a:sym typeface="Lato"/>
              </a:rPr>
            </a:br>
            <a:endParaRPr b="1"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Font typeface="Lato"/>
              <a:buChar char="●"/>
            </a:pPr>
            <a:r>
              <a:rPr b="1" lang="en" sz="1600" u="sng">
                <a:solidFill>
                  <a:schemeClr val="dk1"/>
                </a:solidFill>
                <a:latin typeface="Lato"/>
                <a:ea typeface="Lato"/>
                <a:cs typeface="Lato"/>
                <a:sym typeface="Lato"/>
              </a:rPr>
              <a:t>Step 3:</a:t>
            </a:r>
            <a:r>
              <a:rPr b="1" lang="en" sz="1600">
                <a:solidFill>
                  <a:schemeClr val="dk1"/>
                </a:solidFill>
                <a:latin typeface="Lato"/>
                <a:ea typeface="Lato"/>
                <a:cs typeface="Lato"/>
                <a:sym typeface="Lato"/>
              </a:rPr>
              <a:t> Train multiple ML regression models </a:t>
            </a:r>
            <a:endParaRPr b="1" sz="1600">
              <a:solidFill>
                <a:schemeClr val="dk1"/>
              </a:solidFill>
              <a:latin typeface="Lato"/>
              <a:ea typeface="Lato"/>
              <a:cs typeface="Lato"/>
              <a:sym typeface="Lato"/>
            </a:endParaRPr>
          </a:p>
          <a:p>
            <a:pPr indent="0" lvl="0" marL="457200" rtl="0" algn="l">
              <a:spcBef>
                <a:spcPts val="0"/>
              </a:spcBef>
              <a:spcAft>
                <a:spcPts val="0"/>
              </a:spcAft>
              <a:buNone/>
            </a:pPr>
            <a:r>
              <a:t/>
            </a:r>
            <a:endParaRPr b="1"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Font typeface="Lato"/>
              <a:buChar char="●"/>
            </a:pPr>
            <a:r>
              <a:rPr b="1" lang="en" sz="1600" u="sng">
                <a:solidFill>
                  <a:schemeClr val="dk1"/>
                </a:solidFill>
                <a:latin typeface="Lato"/>
                <a:ea typeface="Lato"/>
                <a:cs typeface="Lato"/>
                <a:sym typeface="Lato"/>
              </a:rPr>
              <a:t>Step 4:</a:t>
            </a:r>
            <a:r>
              <a:rPr b="1" lang="en" sz="1600">
                <a:solidFill>
                  <a:schemeClr val="dk1"/>
                </a:solidFill>
                <a:latin typeface="Lato"/>
                <a:ea typeface="Lato"/>
                <a:cs typeface="Lato"/>
                <a:sym typeface="Lato"/>
              </a:rPr>
              <a:t> Compare models using R² and MSE </a:t>
            </a:r>
            <a:br>
              <a:rPr b="1" lang="en" sz="1600">
                <a:solidFill>
                  <a:schemeClr val="dk1"/>
                </a:solidFill>
                <a:latin typeface="Lato"/>
                <a:ea typeface="Lato"/>
                <a:cs typeface="Lato"/>
                <a:sym typeface="Lato"/>
              </a:rPr>
            </a:br>
            <a:endParaRPr b="1"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Font typeface="Lato"/>
              <a:buChar char="●"/>
            </a:pPr>
            <a:r>
              <a:rPr b="1" lang="en" sz="1600" u="sng">
                <a:solidFill>
                  <a:schemeClr val="dk1"/>
                </a:solidFill>
                <a:latin typeface="Lato"/>
                <a:ea typeface="Lato"/>
                <a:cs typeface="Lato"/>
                <a:sym typeface="Lato"/>
              </a:rPr>
              <a:t>Goal:</a:t>
            </a:r>
            <a:r>
              <a:rPr b="1" lang="en" sz="1600">
                <a:solidFill>
                  <a:schemeClr val="dk1"/>
                </a:solidFill>
                <a:latin typeface="Lato"/>
                <a:ea typeface="Lato"/>
                <a:cs typeface="Lato"/>
                <a:sym typeface="Lato"/>
              </a:rPr>
              <a:t> Accurately predict happiness and understand driving factors</a:t>
            </a:r>
            <a:endParaRPr b="1" sz="1600">
              <a:solidFill>
                <a:schemeClr val="dk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9" name="Shape 159"/>
        <p:cNvGrpSpPr/>
        <p:nvPr/>
      </p:nvGrpSpPr>
      <p:grpSpPr>
        <a:xfrm>
          <a:off x="0" y="0"/>
          <a:ext cx="0" cy="0"/>
          <a:chOff x="0" y="0"/>
          <a:chExt cx="0" cy="0"/>
        </a:xfrm>
      </p:grpSpPr>
      <p:sp>
        <p:nvSpPr>
          <p:cNvPr id="160" name="Google Shape;160;p21"/>
          <p:cNvSpPr txBox="1"/>
          <p:nvPr>
            <p:ph type="title"/>
          </p:nvPr>
        </p:nvSpPr>
        <p:spPr>
          <a:xfrm>
            <a:off x="213825" y="1322450"/>
            <a:ext cx="27378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Exploration &amp;</a:t>
            </a:r>
            <a:endParaRPr/>
          </a:p>
          <a:p>
            <a:pPr indent="0" lvl="0" marL="0" rtl="0" algn="l">
              <a:spcBef>
                <a:spcPts val="0"/>
              </a:spcBef>
              <a:spcAft>
                <a:spcPts val="0"/>
              </a:spcAft>
              <a:buNone/>
            </a:pPr>
            <a:r>
              <a:rPr lang="en"/>
              <a:t>Visualization</a:t>
            </a:r>
            <a:endParaRPr/>
          </a:p>
        </p:txBody>
      </p:sp>
      <p:sp>
        <p:nvSpPr>
          <p:cNvPr id="161" name="Google Shape;161;p21"/>
          <p:cNvSpPr/>
          <p:nvPr/>
        </p:nvSpPr>
        <p:spPr>
          <a:xfrm>
            <a:off x="2951700" y="115125"/>
            <a:ext cx="6091800" cy="4971900"/>
          </a:xfrm>
          <a:prstGeom prst="roundRect">
            <a:avLst>
              <a:gd fmla="val 15454" name="adj"/>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11150" lvl="0" marL="457200" rtl="0" algn="l">
              <a:lnSpc>
                <a:spcPct val="150000"/>
              </a:lnSpc>
              <a:spcBef>
                <a:spcPts val="1200"/>
              </a:spcBef>
              <a:spcAft>
                <a:spcPts val="0"/>
              </a:spcAft>
              <a:buClr>
                <a:schemeClr val="dk1"/>
              </a:buClr>
              <a:buSzPts val="1300"/>
              <a:buChar char="●"/>
            </a:pPr>
            <a:r>
              <a:rPr b="1" lang="en" sz="1300">
                <a:solidFill>
                  <a:schemeClr val="dk1"/>
                </a:solidFill>
                <a:latin typeface="Lato"/>
                <a:ea typeface="Lato"/>
                <a:cs typeface="Lato"/>
                <a:sym typeface="Lato"/>
              </a:rPr>
              <a:t>Used pair plots to spot initial linear relationships and guide feature selection</a:t>
            </a:r>
            <a:endParaRPr b="1" sz="1300">
              <a:solidFill>
                <a:schemeClr val="dk1"/>
              </a:solidFill>
              <a:latin typeface="Lato"/>
              <a:ea typeface="Lato"/>
              <a:cs typeface="Lato"/>
              <a:sym typeface="Lato"/>
            </a:endParaRPr>
          </a:p>
          <a:p>
            <a:pPr indent="-311150" lvl="0" marL="457200" rtl="0" algn="l">
              <a:lnSpc>
                <a:spcPct val="150000"/>
              </a:lnSpc>
              <a:spcBef>
                <a:spcPts val="0"/>
              </a:spcBef>
              <a:spcAft>
                <a:spcPts val="0"/>
              </a:spcAft>
              <a:buClr>
                <a:schemeClr val="dk1"/>
              </a:buClr>
              <a:buSzPts val="1300"/>
              <a:buChar char="●"/>
            </a:pPr>
            <a:r>
              <a:rPr b="1" lang="en" sz="1300">
                <a:solidFill>
                  <a:schemeClr val="dk1"/>
                </a:solidFill>
                <a:latin typeface="Lato"/>
                <a:ea typeface="Lato"/>
                <a:cs typeface="Lato"/>
                <a:sym typeface="Lato"/>
              </a:rPr>
              <a:t>Heatmaps helped quantify correlation strength between happiness and other variables</a:t>
            </a:r>
            <a:endParaRPr b="1" sz="1300">
              <a:solidFill>
                <a:schemeClr val="dk1"/>
              </a:solidFill>
              <a:latin typeface="Lato"/>
              <a:ea typeface="Lato"/>
              <a:cs typeface="Lato"/>
              <a:sym typeface="Lato"/>
            </a:endParaRPr>
          </a:p>
          <a:p>
            <a:pPr indent="-311150" lvl="0" marL="457200" rtl="0" algn="l">
              <a:lnSpc>
                <a:spcPct val="150000"/>
              </a:lnSpc>
              <a:spcBef>
                <a:spcPts val="0"/>
              </a:spcBef>
              <a:spcAft>
                <a:spcPts val="0"/>
              </a:spcAft>
              <a:buClr>
                <a:schemeClr val="dk1"/>
              </a:buClr>
              <a:buSzPts val="1300"/>
              <a:buChar char="●"/>
            </a:pPr>
            <a:r>
              <a:rPr b="1" lang="en" sz="1300">
                <a:solidFill>
                  <a:schemeClr val="dk1"/>
                </a:solidFill>
                <a:latin typeface="Lato"/>
                <a:ea typeface="Lato"/>
                <a:cs typeface="Lato"/>
                <a:sym typeface="Lato"/>
              </a:rPr>
              <a:t>Built interactive plots (e.g., line charts, bar charts, box plots) to visually explore trends by country and variable</a:t>
            </a:r>
            <a:endParaRPr b="1" sz="1300">
              <a:solidFill>
                <a:schemeClr val="dk1"/>
              </a:solidFill>
              <a:latin typeface="Lato"/>
              <a:ea typeface="Lato"/>
              <a:cs typeface="Lato"/>
              <a:sym typeface="Lato"/>
            </a:endParaRPr>
          </a:p>
          <a:p>
            <a:pPr indent="-304800" lvl="0" marL="457200" rtl="0" algn="l">
              <a:lnSpc>
                <a:spcPct val="150000"/>
              </a:lnSpc>
              <a:spcBef>
                <a:spcPts val="0"/>
              </a:spcBef>
              <a:spcAft>
                <a:spcPts val="0"/>
              </a:spcAft>
              <a:buClr>
                <a:schemeClr val="dk1"/>
              </a:buClr>
              <a:buSzPts val="1200"/>
              <a:buFont typeface="Lato"/>
              <a:buChar char="●"/>
            </a:pPr>
            <a:r>
              <a:rPr b="1" lang="en" sz="1300">
                <a:solidFill>
                  <a:schemeClr val="dk1"/>
                </a:solidFill>
                <a:latin typeface="Lato"/>
                <a:ea typeface="Lato"/>
                <a:cs typeface="Lato"/>
                <a:sym typeface="Lato"/>
              </a:rPr>
              <a:t>Clarified key relationships and revealed features with high or low predictive value</a:t>
            </a:r>
            <a:br>
              <a:rPr b="1" lang="en" sz="1200">
                <a:solidFill>
                  <a:schemeClr val="dk1"/>
                </a:solidFill>
                <a:latin typeface="Lato"/>
                <a:ea typeface="Lato"/>
                <a:cs typeface="Lato"/>
                <a:sym typeface="Lato"/>
              </a:rPr>
            </a:br>
            <a:endParaRPr b="1" sz="1200">
              <a:solidFill>
                <a:schemeClr val="dk1"/>
              </a:solidFill>
              <a:latin typeface="Lato"/>
              <a:ea typeface="Lato"/>
              <a:cs typeface="Lato"/>
              <a:sym typeface="Lato"/>
            </a:endParaRPr>
          </a:p>
        </p:txBody>
      </p:sp>
      <p:pic>
        <p:nvPicPr>
          <p:cNvPr id="162" name="Google Shape;162;p21" title="Screenshot 2025-05-04 at 7.02.44 PM.png"/>
          <p:cNvPicPr preferRelativeResize="0"/>
          <p:nvPr/>
        </p:nvPicPr>
        <p:blipFill rotWithShape="1">
          <a:blip r:embed="rId3">
            <a:alphaModFix/>
          </a:blip>
          <a:srcRect b="0" l="2618" r="3174" t="0"/>
          <a:stretch/>
        </p:blipFill>
        <p:spPr>
          <a:xfrm>
            <a:off x="3022750" y="2977125"/>
            <a:ext cx="5949699" cy="1583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6" name="Shape 166"/>
        <p:cNvGrpSpPr/>
        <p:nvPr/>
      </p:nvGrpSpPr>
      <p:grpSpPr>
        <a:xfrm>
          <a:off x="0" y="0"/>
          <a:ext cx="0" cy="0"/>
          <a:chOff x="0" y="0"/>
          <a:chExt cx="0" cy="0"/>
        </a:xfrm>
      </p:grpSpPr>
      <p:sp>
        <p:nvSpPr>
          <p:cNvPr id="167" name="Google Shape;167;p22"/>
          <p:cNvSpPr txBox="1"/>
          <p:nvPr>
            <p:ph type="title"/>
          </p:nvPr>
        </p:nvSpPr>
        <p:spPr>
          <a:xfrm>
            <a:off x="396175" y="1322450"/>
            <a:ext cx="2912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Pre-processing</a:t>
            </a:r>
            <a:endParaRPr sz="2500"/>
          </a:p>
        </p:txBody>
      </p:sp>
      <p:sp>
        <p:nvSpPr>
          <p:cNvPr id="168" name="Google Shape;168;p22"/>
          <p:cNvSpPr/>
          <p:nvPr/>
        </p:nvSpPr>
        <p:spPr>
          <a:xfrm>
            <a:off x="3308550" y="193650"/>
            <a:ext cx="5642400" cy="4756200"/>
          </a:xfrm>
          <a:prstGeom prst="roundRect">
            <a:avLst>
              <a:gd fmla="val 16667" name="adj"/>
            </a:avLst>
          </a:prstGeom>
          <a:solidFill>
            <a:schemeClr val="lt1"/>
          </a:solidFill>
          <a:ln cap="flat" cmpd="sng" w="9525">
            <a:solidFill>
              <a:srgbClr val="1A9988"/>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Lato"/>
              <a:buChar char="●"/>
            </a:pPr>
            <a:r>
              <a:rPr b="1" lang="en" sz="1600">
                <a:solidFill>
                  <a:schemeClr val="dk1"/>
                </a:solidFill>
                <a:latin typeface="Lato"/>
                <a:ea typeface="Lato"/>
                <a:cs typeface="Lato"/>
                <a:sym typeface="Lato"/>
              </a:rPr>
              <a:t>Addressed missing values using mean/median imputation based on data distribution</a:t>
            </a:r>
            <a:endParaRPr b="1" sz="1600">
              <a:solidFill>
                <a:schemeClr val="dk1"/>
              </a:solidFill>
              <a:latin typeface="Lato"/>
              <a:ea typeface="Lato"/>
              <a:cs typeface="Lato"/>
              <a:sym typeface="Lato"/>
            </a:endParaRPr>
          </a:p>
          <a:p>
            <a:pPr indent="0" lvl="0" marL="0" rtl="0" algn="l">
              <a:spcBef>
                <a:spcPts val="0"/>
              </a:spcBef>
              <a:spcAft>
                <a:spcPts val="0"/>
              </a:spcAft>
              <a:buNone/>
            </a:pPr>
            <a:br>
              <a:rPr b="1" lang="en" sz="1600">
                <a:solidFill>
                  <a:schemeClr val="dk1"/>
                </a:solidFill>
                <a:latin typeface="Lato"/>
                <a:ea typeface="Lato"/>
                <a:cs typeface="Lato"/>
                <a:sym typeface="Lato"/>
              </a:rPr>
            </a:br>
            <a:endParaRPr b="1" sz="1600">
              <a:solidFill>
                <a:schemeClr val="dk1"/>
              </a:solidFill>
              <a:latin typeface="Lato"/>
              <a:ea typeface="Lato"/>
              <a:cs typeface="Lato"/>
              <a:sym typeface="Lato"/>
            </a:endParaRPr>
          </a:p>
          <a:p>
            <a:pPr indent="0" lvl="0" marL="0" rtl="0" algn="l">
              <a:spcBef>
                <a:spcPts val="0"/>
              </a:spcBef>
              <a:spcAft>
                <a:spcPts val="0"/>
              </a:spcAft>
              <a:buNone/>
            </a:pPr>
            <a:r>
              <a:t/>
            </a:r>
            <a:endParaRPr b="1" sz="1600">
              <a:solidFill>
                <a:schemeClr val="dk1"/>
              </a:solidFill>
              <a:latin typeface="Lato"/>
              <a:ea typeface="Lato"/>
              <a:cs typeface="Lato"/>
              <a:sym typeface="Lato"/>
            </a:endParaRPr>
          </a:p>
          <a:p>
            <a:pPr indent="0" lvl="0" marL="0" rtl="0" algn="l">
              <a:spcBef>
                <a:spcPts val="0"/>
              </a:spcBef>
              <a:spcAft>
                <a:spcPts val="0"/>
              </a:spcAft>
              <a:buNone/>
            </a:pPr>
            <a:r>
              <a:t/>
            </a:r>
            <a:endParaRPr b="1" sz="1600">
              <a:solidFill>
                <a:schemeClr val="dk1"/>
              </a:solidFill>
              <a:latin typeface="Lato"/>
              <a:ea typeface="Lato"/>
              <a:cs typeface="Lato"/>
              <a:sym typeface="Lato"/>
            </a:endParaRPr>
          </a:p>
          <a:p>
            <a:pPr indent="0" lvl="0" marL="0" rtl="0" algn="l">
              <a:spcBef>
                <a:spcPts val="0"/>
              </a:spcBef>
              <a:spcAft>
                <a:spcPts val="0"/>
              </a:spcAft>
              <a:buNone/>
            </a:pPr>
            <a:r>
              <a:t/>
            </a:r>
            <a:endParaRPr b="1" sz="1600">
              <a:solidFill>
                <a:schemeClr val="dk1"/>
              </a:solidFill>
              <a:latin typeface="Lato"/>
              <a:ea typeface="Lato"/>
              <a:cs typeface="Lato"/>
              <a:sym typeface="Lato"/>
            </a:endParaRPr>
          </a:p>
          <a:p>
            <a:pPr indent="0" lvl="0" marL="0" rtl="0" algn="l">
              <a:spcBef>
                <a:spcPts val="0"/>
              </a:spcBef>
              <a:spcAft>
                <a:spcPts val="0"/>
              </a:spcAft>
              <a:buNone/>
            </a:pPr>
            <a:r>
              <a:t/>
            </a:r>
            <a:endParaRPr b="1" sz="1600">
              <a:solidFill>
                <a:schemeClr val="dk1"/>
              </a:solidFill>
              <a:latin typeface="Lato"/>
              <a:ea typeface="Lato"/>
              <a:cs typeface="Lato"/>
              <a:sym typeface="Lato"/>
            </a:endParaRPr>
          </a:p>
          <a:p>
            <a:pPr indent="0" lvl="0" marL="0" rtl="0" algn="l">
              <a:spcBef>
                <a:spcPts val="0"/>
              </a:spcBef>
              <a:spcAft>
                <a:spcPts val="0"/>
              </a:spcAft>
              <a:buNone/>
            </a:pPr>
            <a:r>
              <a:t/>
            </a:r>
            <a:endParaRPr b="1" sz="1600">
              <a:solidFill>
                <a:schemeClr val="dk1"/>
              </a:solidFill>
              <a:latin typeface="Lato"/>
              <a:ea typeface="Lato"/>
              <a:cs typeface="Lato"/>
              <a:sym typeface="Lato"/>
            </a:endParaRPr>
          </a:p>
          <a:p>
            <a:pPr indent="0" lvl="0" marL="457200" rtl="0" algn="l">
              <a:spcBef>
                <a:spcPts val="0"/>
              </a:spcBef>
              <a:spcAft>
                <a:spcPts val="0"/>
              </a:spcAft>
              <a:buNone/>
            </a:pPr>
            <a:r>
              <a:t/>
            </a:r>
            <a:endParaRPr b="1"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Font typeface="Lato"/>
              <a:buChar char="●"/>
            </a:pPr>
            <a:r>
              <a:rPr b="1" lang="en" sz="1600">
                <a:solidFill>
                  <a:schemeClr val="dk1"/>
                </a:solidFill>
                <a:latin typeface="Lato"/>
                <a:ea typeface="Lato"/>
                <a:cs typeface="Lato"/>
                <a:sym typeface="Lato"/>
              </a:rPr>
              <a:t>Removed rows with residual missing data (retained ~92% of dataset)</a:t>
            </a:r>
            <a:br>
              <a:rPr b="1" lang="en" sz="1600">
                <a:solidFill>
                  <a:schemeClr val="dk1"/>
                </a:solidFill>
                <a:latin typeface="Lato"/>
                <a:ea typeface="Lato"/>
                <a:cs typeface="Lato"/>
                <a:sym typeface="Lato"/>
              </a:rPr>
            </a:br>
            <a:endParaRPr b="1"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Font typeface="Lato"/>
              <a:buChar char="●"/>
            </a:pPr>
            <a:r>
              <a:rPr b="1" lang="en" sz="1600">
                <a:solidFill>
                  <a:schemeClr val="dk1"/>
                </a:solidFill>
                <a:latin typeface="Lato"/>
                <a:ea typeface="Lato"/>
                <a:cs typeface="Lato"/>
                <a:sym typeface="Lato"/>
              </a:rPr>
              <a:t>Checked for duplicates and ensured country name integrity </a:t>
            </a:r>
            <a:endParaRPr b="1" sz="1600">
              <a:solidFill>
                <a:schemeClr val="dk1"/>
              </a:solidFill>
              <a:latin typeface="Lato"/>
              <a:ea typeface="Lato"/>
              <a:cs typeface="Lato"/>
              <a:sym typeface="Lato"/>
            </a:endParaRPr>
          </a:p>
        </p:txBody>
      </p:sp>
      <p:graphicFrame>
        <p:nvGraphicFramePr>
          <p:cNvPr id="169" name="Google Shape;169;p22"/>
          <p:cNvGraphicFramePr/>
          <p:nvPr/>
        </p:nvGraphicFramePr>
        <p:xfrm>
          <a:off x="4110450" y="1230725"/>
          <a:ext cx="3000000" cy="3000000"/>
        </p:xfrm>
        <a:graphic>
          <a:graphicData uri="http://schemas.openxmlformats.org/drawingml/2006/table">
            <a:tbl>
              <a:tblPr>
                <a:noFill/>
                <a:tableStyleId>{3BCDEBF0-7099-4F6A-AFAA-993424241E1B}</a:tableStyleId>
              </a:tblPr>
              <a:tblGrid>
                <a:gridCol w="1193575"/>
                <a:gridCol w="1133500"/>
                <a:gridCol w="855775"/>
                <a:gridCol w="855775"/>
              </a:tblGrid>
              <a:tr h="361950">
                <a:tc>
                  <a:txBody>
                    <a:bodyPr/>
                    <a:lstStyle/>
                    <a:p>
                      <a:pPr indent="0" lvl="0" marL="0" rtl="0" algn="ctr">
                        <a:lnSpc>
                          <a:spcPct val="115000"/>
                        </a:lnSpc>
                        <a:spcBef>
                          <a:spcPts val="0"/>
                        </a:spcBef>
                        <a:spcAft>
                          <a:spcPts val="0"/>
                        </a:spcAft>
                        <a:buNone/>
                      </a:pPr>
                      <a:r>
                        <a:rPr b="1" lang="en" sz="1300">
                          <a:solidFill>
                            <a:schemeClr val="dk1"/>
                          </a:solidFill>
                          <a:latin typeface="Lato"/>
                          <a:ea typeface="Lato"/>
                          <a:cs typeface="Lato"/>
                          <a:sym typeface="Lato"/>
                        </a:rPr>
                        <a:t>Column</a:t>
                      </a:r>
                      <a:endParaRPr sz="1200">
                        <a:solidFill>
                          <a:schemeClr val="dk1"/>
                        </a:solidFill>
                        <a:latin typeface="Lato"/>
                        <a:ea typeface="Lato"/>
                        <a:cs typeface="Lato"/>
                        <a:sym typeface="Lato"/>
                      </a:endParaRPr>
                    </a:p>
                  </a:txBody>
                  <a:tcPr marT="25400" marB="25400" marR="25400" marL="25400" anchor="b">
                    <a:lnL cap="flat" cmpd="sng" w="5950">
                      <a:solidFill>
                        <a:schemeClr val="dk1"/>
                      </a:solidFill>
                      <a:prstDash val="solid"/>
                      <a:round/>
                      <a:headEnd len="sm" w="sm" type="none"/>
                      <a:tailEnd len="sm" w="sm" type="none"/>
                    </a:lnL>
                    <a:lnR cap="flat" cmpd="sng" w="5950">
                      <a:solidFill>
                        <a:schemeClr val="dk1"/>
                      </a:solidFill>
                      <a:prstDash val="solid"/>
                      <a:round/>
                      <a:headEnd len="sm" w="sm" type="none"/>
                      <a:tailEnd len="sm" w="sm" type="none"/>
                    </a:lnR>
                    <a:lnT cap="flat" cmpd="sng" w="5950">
                      <a:solidFill>
                        <a:schemeClr val="dk1"/>
                      </a:solidFill>
                      <a:prstDash val="solid"/>
                      <a:round/>
                      <a:headEnd len="sm" w="sm" type="none"/>
                      <a:tailEnd len="sm" w="sm" type="none"/>
                    </a:lnT>
                    <a:lnB cap="flat" cmpd="sng" w="59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Lato"/>
                          <a:ea typeface="Lato"/>
                          <a:cs typeface="Lato"/>
                          <a:sym typeface="Lato"/>
                        </a:rPr>
                        <a:t>Missing Values (%)</a:t>
                      </a:r>
                      <a:endParaRPr sz="1200">
                        <a:solidFill>
                          <a:schemeClr val="dk1"/>
                        </a:solidFill>
                        <a:latin typeface="Lato"/>
                        <a:ea typeface="Lato"/>
                        <a:cs typeface="Lato"/>
                        <a:sym typeface="Lato"/>
                      </a:endParaRPr>
                    </a:p>
                  </a:txBody>
                  <a:tcPr marT="25400" marB="25400" marR="25400" marL="25400" anchor="b">
                    <a:lnL cap="flat" cmpd="sng" w="5950">
                      <a:solidFill>
                        <a:schemeClr val="dk1"/>
                      </a:solidFill>
                      <a:prstDash val="solid"/>
                      <a:round/>
                      <a:headEnd len="sm" w="sm" type="none"/>
                      <a:tailEnd len="sm" w="sm" type="none"/>
                    </a:lnL>
                    <a:lnR cap="flat" cmpd="sng" w="5950">
                      <a:solidFill>
                        <a:schemeClr val="dk1"/>
                      </a:solidFill>
                      <a:prstDash val="solid"/>
                      <a:round/>
                      <a:headEnd len="sm" w="sm" type="none"/>
                      <a:tailEnd len="sm" w="sm" type="none"/>
                    </a:lnR>
                    <a:lnT cap="flat" cmpd="sng" w="5950">
                      <a:solidFill>
                        <a:schemeClr val="dk1"/>
                      </a:solidFill>
                      <a:prstDash val="solid"/>
                      <a:round/>
                      <a:headEnd len="sm" w="sm" type="none"/>
                      <a:tailEnd len="sm" w="sm" type="none"/>
                    </a:lnT>
                    <a:lnB cap="flat" cmpd="sng" w="59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Lato"/>
                          <a:ea typeface="Lato"/>
                          <a:cs typeface="Lato"/>
                          <a:sym typeface="Lato"/>
                        </a:rPr>
                        <a:t>Missing Count</a:t>
                      </a:r>
                      <a:endParaRPr sz="1200">
                        <a:solidFill>
                          <a:schemeClr val="dk1"/>
                        </a:solidFill>
                        <a:latin typeface="Lato"/>
                        <a:ea typeface="Lato"/>
                        <a:cs typeface="Lato"/>
                        <a:sym typeface="Lato"/>
                      </a:endParaRPr>
                    </a:p>
                  </a:txBody>
                  <a:tcPr marT="25400" marB="25400" marR="25400" marL="25400" anchor="b">
                    <a:lnL cap="flat" cmpd="sng" w="5950">
                      <a:solidFill>
                        <a:schemeClr val="dk1"/>
                      </a:solidFill>
                      <a:prstDash val="solid"/>
                      <a:round/>
                      <a:headEnd len="sm" w="sm" type="none"/>
                      <a:tailEnd len="sm" w="sm" type="none"/>
                    </a:lnL>
                    <a:lnR cap="flat" cmpd="sng" w="5950">
                      <a:solidFill>
                        <a:schemeClr val="dk1"/>
                      </a:solidFill>
                      <a:prstDash val="solid"/>
                      <a:round/>
                      <a:headEnd len="sm" w="sm" type="none"/>
                      <a:tailEnd len="sm" w="sm" type="none"/>
                    </a:lnR>
                    <a:lnT cap="flat" cmpd="sng" w="5950">
                      <a:solidFill>
                        <a:schemeClr val="dk1"/>
                      </a:solidFill>
                      <a:prstDash val="solid"/>
                      <a:round/>
                      <a:headEnd len="sm" w="sm" type="none"/>
                      <a:tailEnd len="sm" w="sm" type="none"/>
                    </a:lnT>
                    <a:lnB cap="flat" cmpd="sng" w="59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Lato"/>
                          <a:ea typeface="Lato"/>
                          <a:cs typeface="Lato"/>
                          <a:sym typeface="Lato"/>
                        </a:rPr>
                        <a:t>Replaced with</a:t>
                      </a:r>
                      <a:endParaRPr b="1" sz="1300">
                        <a:solidFill>
                          <a:schemeClr val="dk1"/>
                        </a:solidFill>
                        <a:latin typeface="Lato"/>
                        <a:ea typeface="Lato"/>
                        <a:cs typeface="Lato"/>
                        <a:sym typeface="Lato"/>
                      </a:endParaRPr>
                    </a:p>
                  </a:txBody>
                  <a:tcPr marT="25400" marB="25400" marR="25400" marL="25400" anchor="b">
                    <a:lnL cap="flat" cmpd="sng" w="5950">
                      <a:solidFill>
                        <a:schemeClr val="dk1"/>
                      </a:solidFill>
                      <a:prstDash val="solid"/>
                      <a:round/>
                      <a:headEnd len="sm" w="sm" type="none"/>
                      <a:tailEnd len="sm" w="sm" type="none"/>
                    </a:lnL>
                    <a:lnR cap="flat" cmpd="sng" w="5950">
                      <a:solidFill>
                        <a:schemeClr val="dk1"/>
                      </a:solidFill>
                      <a:prstDash val="solid"/>
                      <a:round/>
                      <a:headEnd len="sm" w="sm" type="none"/>
                      <a:tailEnd len="sm" w="sm" type="none"/>
                    </a:lnR>
                    <a:lnT cap="flat" cmpd="sng" w="5950">
                      <a:solidFill>
                        <a:schemeClr val="dk1"/>
                      </a:solidFill>
                      <a:prstDash val="solid"/>
                      <a:round/>
                      <a:headEnd len="sm" w="sm" type="none"/>
                      <a:tailEnd len="sm" w="sm" type="none"/>
                    </a:lnT>
                    <a:lnB cap="flat" cmpd="sng" w="5950">
                      <a:solidFill>
                        <a:schemeClr val="dk1"/>
                      </a:solidFill>
                      <a:prstDash val="solid"/>
                      <a:round/>
                      <a:headEnd len="sm" w="sm" type="none"/>
                      <a:tailEnd len="sm" w="sm" type="none"/>
                    </a:lnB>
                  </a:tcPr>
                </a:tc>
              </a:tr>
              <a:tr h="361950">
                <a:tc>
                  <a:txBody>
                    <a:bodyPr/>
                    <a:lstStyle/>
                    <a:p>
                      <a:pPr indent="0" lvl="0" marL="0" rtl="0" algn="ctr">
                        <a:lnSpc>
                          <a:spcPct val="115000"/>
                        </a:lnSpc>
                        <a:spcBef>
                          <a:spcPts val="0"/>
                        </a:spcBef>
                        <a:spcAft>
                          <a:spcPts val="0"/>
                        </a:spcAft>
                        <a:buNone/>
                      </a:pPr>
                      <a:r>
                        <a:rPr lang="en" sz="1300">
                          <a:solidFill>
                            <a:schemeClr val="dk1"/>
                          </a:solidFill>
                          <a:latin typeface="Lato"/>
                          <a:ea typeface="Lato"/>
                          <a:cs typeface="Lato"/>
                          <a:sym typeface="Lato"/>
                        </a:rPr>
                        <a:t>Perceived Corruption</a:t>
                      </a:r>
                      <a:endParaRPr sz="1200">
                        <a:solidFill>
                          <a:schemeClr val="dk1"/>
                        </a:solidFill>
                        <a:latin typeface="Lato"/>
                        <a:ea typeface="Lato"/>
                        <a:cs typeface="Lato"/>
                        <a:sym typeface="Lato"/>
                      </a:endParaRPr>
                    </a:p>
                  </a:txBody>
                  <a:tcPr marT="25400" marB="25400" marR="25400" marL="25400" anchor="b">
                    <a:lnL cap="flat" cmpd="sng" w="5950">
                      <a:solidFill>
                        <a:schemeClr val="dk1"/>
                      </a:solidFill>
                      <a:prstDash val="solid"/>
                      <a:round/>
                      <a:headEnd len="sm" w="sm" type="none"/>
                      <a:tailEnd len="sm" w="sm" type="none"/>
                    </a:lnL>
                    <a:lnR cap="flat" cmpd="sng" w="5950">
                      <a:solidFill>
                        <a:schemeClr val="dk1"/>
                      </a:solidFill>
                      <a:prstDash val="solid"/>
                      <a:round/>
                      <a:headEnd len="sm" w="sm" type="none"/>
                      <a:tailEnd len="sm" w="sm" type="none"/>
                    </a:lnR>
                    <a:lnT cap="flat" cmpd="sng" w="5950">
                      <a:solidFill>
                        <a:schemeClr val="dk1"/>
                      </a:solidFill>
                      <a:prstDash val="solid"/>
                      <a:round/>
                      <a:headEnd len="sm" w="sm" type="none"/>
                      <a:tailEnd len="sm" w="sm" type="none"/>
                    </a:lnT>
                    <a:lnB cap="flat" cmpd="sng" w="59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solidFill>
                            <a:schemeClr val="dk1"/>
                          </a:solidFill>
                          <a:latin typeface="Lato"/>
                          <a:ea typeface="Lato"/>
                          <a:cs typeface="Lato"/>
                          <a:sym typeface="Lato"/>
                        </a:rPr>
                        <a:t>5.41%</a:t>
                      </a:r>
                      <a:endParaRPr sz="1200">
                        <a:solidFill>
                          <a:schemeClr val="dk1"/>
                        </a:solidFill>
                        <a:latin typeface="Lato"/>
                        <a:ea typeface="Lato"/>
                        <a:cs typeface="Lato"/>
                        <a:sym typeface="Lato"/>
                      </a:endParaRPr>
                    </a:p>
                  </a:txBody>
                  <a:tcPr marT="25400" marB="25400" marR="25400" marL="25400" anchor="b">
                    <a:lnL cap="flat" cmpd="sng" w="5950">
                      <a:solidFill>
                        <a:schemeClr val="dk1"/>
                      </a:solidFill>
                      <a:prstDash val="solid"/>
                      <a:round/>
                      <a:headEnd len="sm" w="sm" type="none"/>
                      <a:tailEnd len="sm" w="sm" type="none"/>
                    </a:lnL>
                    <a:lnR cap="flat" cmpd="sng" w="5950">
                      <a:solidFill>
                        <a:schemeClr val="dk1"/>
                      </a:solidFill>
                      <a:prstDash val="solid"/>
                      <a:round/>
                      <a:headEnd len="sm" w="sm" type="none"/>
                      <a:tailEnd len="sm" w="sm" type="none"/>
                    </a:lnR>
                    <a:lnT cap="flat" cmpd="sng" w="5950">
                      <a:solidFill>
                        <a:schemeClr val="dk1"/>
                      </a:solidFill>
                      <a:prstDash val="solid"/>
                      <a:round/>
                      <a:headEnd len="sm" w="sm" type="none"/>
                      <a:tailEnd len="sm" w="sm" type="none"/>
                    </a:lnT>
                    <a:lnB cap="flat" cmpd="sng" w="59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solidFill>
                            <a:schemeClr val="dk1"/>
                          </a:solidFill>
                          <a:latin typeface="Lato"/>
                          <a:ea typeface="Lato"/>
                          <a:cs typeface="Lato"/>
                          <a:sym typeface="Lato"/>
                        </a:rPr>
                        <a:t>113</a:t>
                      </a:r>
                      <a:endParaRPr sz="1200">
                        <a:solidFill>
                          <a:schemeClr val="dk1"/>
                        </a:solidFill>
                        <a:latin typeface="Lato"/>
                        <a:ea typeface="Lato"/>
                        <a:cs typeface="Lato"/>
                        <a:sym typeface="Lato"/>
                      </a:endParaRPr>
                    </a:p>
                  </a:txBody>
                  <a:tcPr marT="25400" marB="25400" marR="25400" marL="25400" anchor="b">
                    <a:lnL cap="flat" cmpd="sng" w="5950">
                      <a:solidFill>
                        <a:schemeClr val="dk1"/>
                      </a:solidFill>
                      <a:prstDash val="solid"/>
                      <a:round/>
                      <a:headEnd len="sm" w="sm" type="none"/>
                      <a:tailEnd len="sm" w="sm" type="none"/>
                    </a:lnL>
                    <a:lnR cap="flat" cmpd="sng" w="5950">
                      <a:solidFill>
                        <a:schemeClr val="dk1"/>
                      </a:solidFill>
                      <a:prstDash val="solid"/>
                      <a:round/>
                      <a:headEnd len="sm" w="sm" type="none"/>
                      <a:tailEnd len="sm" w="sm" type="none"/>
                    </a:lnR>
                    <a:lnT cap="flat" cmpd="sng" w="5950">
                      <a:solidFill>
                        <a:schemeClr val="dk1"/>
                      </a:solidFill>
                      <a:prstDash val="solid"/>
                      <a:round/>
                      <a:headEnd len="sm" w="sm" type="none"/>
                      <a:tailEnd len="sm" w="sm" type="none"/>
                    </a:lnT>
                    <a:lnB cap="flat" cmpd="sng" w="59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solidFill>
                            <a:schemeClr val="dk1"/>
                          </a:solidFill>
                          <a:latin typeface="Lato"/>
                          <a:ea typeface="Lato"/>
                          <a:cs typeface="Lato"/>
                          <a:sym typeface="Lato"/>
                        </a:rPr>
                        <a:t>Median</a:t>
                      </a:r>
                      <a:endParaRPr sz="1300">
                        <a:solidFill>
                          <a:schemeClr val="dk1"/>
                        </a:solidFill>
                        <a:latin typeface="Lato"/>
                        <a:ea typeface="Lato"/>
                        <a:cs typeface="Lato"/>
                        <a:sym typeface="Lato"/>
                      </a:endParaRPr>
                    </a:p>
                  </a:txBody>
                  <a:tcPr marT="25400" marB="25400" marR="25400" marL="25400" anchor="b">
                    <a:lnL cap="flat" cmpd="sng" w="5950">
                      <a:solidFill>
                        <a:schemeClr val="dk1"/>
                      </a:solidFill>
                      <a:prstDash val="solid"/>
                      <a:round/>
                      <a:headEnd len="sm" w="sm" type="none"/>
                      <a:tailEnd len="sm" w="sm" type="none"/>
                    </a:lnL>
                    <a:lnR cap="flat" cmpd="sng" w="5950">
                      <a:solidFill>
                        <a:schemeClr val="dk1"/>
                      </a:solidFill>
                      <a:prstDash val="solid"/>
                      <a:round/>
                      <a:headEnd len="sm" w="sm" type="none"/>
                      <a:tailEnd len="sm" w="sm" type="none"/>
                    </a:lnR>
                    <a:lnT cap="flat" cmpd="sng" w="5950">
                      <a:solidFill>
                        <a:schemeClr val="dk1"/>
                      </a:solidFill>
                      <a:prstDash val="solid"/>
                      <a:round/>
                      <a:headEnd len="sm" w="sm" type="none"/>
                      <a:tailEnd len="sm" w="sm" type="none"/>
                    </a:lnT>
                    <a:lnB cap="flat" cmpd="sng" w="5950">
                      <a:solidFill>
                        <a:schemeClr val="dk1"/>
                      </a:solidFill>
                      <a:prstDash val="solid"/>
                      <a:round/>
                      <a:headEnd len="sm" w="sm" type="none"/>
                      <a:tailEnd len="sm" w="sm" type="none"/>
                    </a:lnB>
                  </a:tcPr>
                </a:tc>
              </a:tr>
              <a:tr h="361950">
                <a:tc>
                  <a:txBody>
                    <a:bodyPr/>
                    <a:lstStyle/>
                    <a:p>
                      <a:pPr indent="0" lvl="0" marL="0" rtl="0" algn="ctr">
                        <a:lnSpc>
                          <a:spcPct val="115000"/>
                        </a:lnSpc>
                        <a:spcBef>
                          <a:spcPts val="0"/>
                        </a:spcBef>
                        <a:spcAft>
                          <a:spcPts val="0"/>
                        </a:spcAft>
                        <a:buNone/>
                      </a:pPr>
                      <a:r>
                        <a:rPr lang="en" sz="1300">
                          <a:solidFill>
                            <a:schemeClr val="dk1"/>
                          </a:solidFill>
                          <a:latin typeface="Lato"/>
                          <a:ea typeface="Lato"/>
                          <a:cs typeface="Lato"/>
                          <a:sym typeface="Lato"/>
                        </a:rPr>
                        <a:t>Trust in Government</a:t>
                      </a:r>
                      <a:endParaRPr sz="1200">
                        <a:solidFill>
                          <a:schemeClr val="dk1"/>
                        </a:solidFill>
                        <a:latin typeface="Lato"/>
                        <a:ea typeface="Lato"/>
                        <a:cs typeface="Lato"/>
                        <a:sym typeface="Lato"/>
                      </a:endParaRPr>
                    </a:p>
                  </a:txBody>
                  <a:tcPr marT="25400" marB="25400" marR="25400" marL="25400" anchor="b">
                    <a:lnL cap="flat" cmpd="sng" w="5950">
                      <a:solidFill>
                        <a:schemeClr val="dk1"/>
                      </a:solidFill>
                      <a:prstDash val="solid"/>
                      <a:round/>
                      <a:headEnd len="sm" w="sm" type="none"/>
                      <a:tailEnd len="sm" w="sm" type="none"/>
                    </a:lnL>
                    <a:lnR cap="flat" cmpd="sng" w="5950">
                      <a:solidFill>
                        <a:schemeClr val="dk1"/>
                      </a:solidFill>
                      <a:prstDash val="solid"/>
                      <a:round/>
                      <a:headEnd len="sm" w="sm" type="none"/>
                      <a:tailEnd len="sm" w="sm" type="none"/>
                    </a:lnR>
                    <a:lnT cap="flat" cmpd="sng" w="5950">
                      <a:solidFill>
                        <a:schemeClr val="dk1"/>
                      </a:solidFill>
                      <a:prstDash val="solid"/>
                      <a:round/>
                      <a:headEnd len="sm" w="sm" type="none"/>
                      <a:tailEnd len="sm" w="sm" type="none"/>
                    </a:lnT>
                    <a:lnB cap="flat" cmpd="sng" w="59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solidFill>
                            <a:schemeClr val="dk1"/>
                          </a:solidFill>
                          <a:latin typeface="Lato"/>
                          <a:ea typeface="Lato"/>
                          <a:cs typeface="Lato"/>
                          <a:sym typeface="Lato"/>
                        </a:rPr>
                        <a:t>10.34%</a:t>
                      </a:r>
                      <a:endParaRPr sz="1200">
                        <a:solidFill>
                          <a:schemeClr val="dk1"/>
                        </a:solidFill>
                        <a:latin typeface="Lato"/>
                        <a:ea typeface="Lato"/>
                        <a:cs typeface="Lato"/>
                        <a:sym typeface="Lato"/>
                      </a:endParaRPr>
                    </a:p>
                  </a:txBody>
                  <a:tcPr marT="25400" marB="25400" marR="25400" marL="25400" anchor="b">
                    <a:lnL cap="flat" cmpd="sng" w="5950">
                      <a:solidFill>
                        <a:schemeClr val="dk1"/>
                      </a:solidFill>
                      <a:prstDash val="solid"/>
                      <a:round/>
                      <a:headEnd len="sm" w="sm" type="none"/>
                      <a:tailEnd len="sm" w="sm" type="none"/>
                    </a:lnL>
                    <a:lnR cap="flat" cmpd="sng" w="5950">
                      <a:solidFill>
                        <a:schemeClr val="dk1"/>
                      </a:solidFill>
                      <a:prstDash val="solid"/>
                      <a:round/>
                      <a:headEnd len="sm" w="sm" type="none"/>
                      <a:tailEnd len="sm" w="sm" type="none"/>
                    </a:lnR>
                    <a:lnT cap="flat" cmpd="sng" w="5950">
                      <a:solidFill>
                        <a:schemeClr val="dk1"/>
                      </a:solidFill>
                      <a:prstDash val="solid"/>
                      <a:round/>
                      <a:headEnd len="sm" w="sm" type="none"/>
                      <a:tailEnd len="sm" w="sm" type="none"/>
                    </a:lnT>
                    <a:lnB cap="flat" cmpd="sng" w="59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solidFill>
                            <a:schemeClr val="dk1"/>
                          </a:solidFill>
                          <a:latin typeface="Lato"/>
                          <a:ea typeface="Lato"/>
                          <a:cs typeface="Lato"/>
                          <a:sym typeface="Lato"/>
                        </a:rPr>
                        <a:t>216</a:t>
                      </a:r>
                      <a:endParaRPr sz="1200">
                        <a:solidFill>
                          <a:schemeClr val="dk1"/>
                        </a:solidFill>
                        <a:latin typeface="Lato"/>
                        <a:ea typeface="Lato"/>
                        <a:cs typeface="Lato"/>
                        <a:sym typeface="Lato"/>
                      </a:endParaRPr>
                    </a:p>
                  </a:txBody>
                  <a:tcPr marT="25400" marB="25400" marR="25400" marL="25400" anchor="b">
                    <a:lnL cap="flat" cmpd="sng" w="5950">
                      <a:solidFill>
                        <a:schemeClr val="dk1"/>
                      </a:solidFill>
                      <a:prstDash val="solid"/>
                      <a:round/>
                      <a:headEnd len="sm" w="sm" type="none"/>
                      <a:tailEnd len="sm" w="sm" type="none"/>
                    </a:lnL>
                    <a:lnR cap="flat" cmpd="sng" w="5950">
                      <a:solidFill>
                        <a:schemeClr val="dk1"/>
                      </a:solidFill>
                      <a:prstDash val="solid"/>
                      <a:round/>
                      <a:headEnd len="sm" w="sm" type="none"/>
                      <a:tailEnd len="sm" w="sm" type="none"/>
                    </a:lnR>
                    <a:lnT cap="flat" cmpd="sng" w="5950">
                      <a:solidFill>
                        <a:schemeClr val="dk1"/>
                      </a:solidFill>
                      <a:prstDash val="solid"/>
                      <a:round/>
                      <a:headEnd len="sm" w="sm" type="none"/>
                      <a:tailEnd len="sm" w="sm" type="none"/>
                    </a:lnT>
                    <a:lnB cap="flat" cmpd="sng" w="59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solidFill>
                            <a:schemeClr val="dk1"/>
                          </a:solidFill>
                          <a:latin typeface="Lato"/>
                          <a:ea typeface="Lato"/>
                          <a:cs typeface="Lato"/>
                          <a:sym typeface="Lato"/>
                        </a:rPr>
                        <a:t>Mean</a:t>
                      </a:r>
                      <a:endParaRPr sz="1300">
                        <a:solidFill>
                          <a:schemeClr val="dk1"/>
                        </a:solidFill>
                        <a:latin typeface="Lato"/>
                        <a:ea typeface="Lato"/>
                        <a:cs typeface="Lato"/>
                        <a:sym typeface="Lato"/>
                      </a:endParaRPr>
                    </a:p>
                  </a:txBody>
                  <a:tcPr marT="25400" marB="25400" marR="25400" marL="25400" anchor="b">
                    <a:lnL cap="flat" cmpd="sng" w="5950">
                      <a:solidFill>
                        <a:schemeClr val="dk1"/>
                      </a:solidFill>
                      <a:prstDash val="solid"/>
                      <a:round/>
                      <a:headEnd len="sm" w="sm" type="none"/>
                      <a:tailEnd len="sm" w="sm" type="none"/>
                    </a:lnL>
                    <a:lnR cap="flat" cmpd="sng" w="5950">
                      <a:solidFill>
                        <a:schemeClr val="dk1"/>
                      </a:solidFill>
                      <a:prstDash val="solid"/>
                      <a:round/>
                      <a:headEnd len="sm" w="sm" type="none"/>
                      <a:tailEnd len="sm" w="sm" type="none"/>
                    </a:lnR>
                    <a:lnT cap="flat" cmpd="sng" w="5950">
                      <a:solidFill>
                        <a:schemeClr val="dk1"/>
                      </a:solidFill>
                      <a:prstDash val="solid"/>
                      <a:round/>
                      <a:headEnd len="sm" w="sm" type="none"/>
                      <a:tailEnd len="sm" w="sm" type="none"/>
                    </a:lnT>
                    <a:lnB cap="flat" cmpd="sng" w="5950">
                      <a:solidFill>
                        <a:schemeClr val="dk1"/>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3"/>
          <p:cNvSpPr txBox="1"/>
          <p:nvPr>
            <p:ph idx="1" type="body"/>
          </p:nvPr>
        </p:nvSpPr>
        <p:spPr>
          <a:xfrm>
            <a:off x="4499275" y="1220575"/>
            <a:ext cx="4265700" cy="36258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Char char="➔"/>
            </a:pPr>
            <a:r>
              <a:rPr b="1" lang="en">
                <a:solidFill>
                  <a:schemeClr val="dk1"/>
                </a:solidFill>
              </a:rPr>
              <a:t>Bar chart comparing average happiness in recent years </a:t>
            </a:r>
            <a:endParaRPr b="1">
              <a:solidFill>
                <a:schemeClr val="dk1"/>
              </a:solidFill>
            </a:endParaRPr>
          </a:p>
          <a:p>
            <a:pPr indent="-311150" lvl="0" marL="457200" rtl="0" algn="l">
              <a:spcBef>
                <a:spcPts val="1000"/>
              </a:spcBef>
              <a:spcAft>
                <a:spcPts val="0"/>
              </a:spcAft>
              <a:buClr>
                <a:schemeClr val="dk1"/>
              </a:buClr>
              <a:buSzPts val="1300"/>
              <a:buChar char="➔"/>
            </a:pPr>
            <a:r>
              <a:rPr b="1" lang="en">
                <a:solidFill>
                  <a:schemeClr val="dk1"/>
                </a:solidFill>
              </a:rPr>
              <a:t>Interactive feature: Hovering displays average </a:t>
            </a:r>
            <a:r>
              <a:rPr b="1" lang="en">
                <a:solidFill>
                  <a:schemeClr val="dk1"/>
                </a:solidFill>
              </a:rPr>
              <a:t>wealth, social support and life expectancy </a:t>
            </a:r>
            <a:endParaRPr b="1">
              <a:solidFill>
                <a:schemeClr val="dk1"/>
              </a:solidFill>
            </a:endParaRPr>
          </a:p>
          <a:p>
            <a:pPr indent="-311150" lvl="0" marL="457200" rtl="0" algn="l">
              <a:spcBef>
                <a:spcPts val="1000"/>
              </a:spcBef>
              <a:spcAft>
                <a:spcPts val="0"/>
              </a:spcAft>
              <a:buClr>
                <a:schemeClr val="dk1"/>
              </a:buClr>
              <a:buSzPts val="1300"/>
              <a:buFont typeface="Raleway"/>
              <a:buChar char="➔"/>
            </a:pPr>
            <a:r>
              <a:rPr b="1" lang="en">
                <a:solidFill>
                  <a:schemeClr val="dk1"/>
                </a:solidFill>
              </a:rPr>
              <a:t>Nordic countries (Finland, Denmark, Iceland) consistently top the list</a:t>
            </a:r>
            <a:endParaRPr b="1">
              <a:solidFill>
                <a:schemeClr val="dk1"/>
              </a:solidFill>
            </a:endParaRPr>
          </a:p>
          <a:p>
            <a:pPr indent="-311150" lvl="0" marL="457200" rtl="0" algn="l">
              <a:spcBef>
                <a:spcPts val="1000"/>
              </a:spcBef>
              <a:spcAft>
                <a:spcPts val="0"/>
              </a:spcAft>
              <a:buClr>
                <a:schemeClr val="dk1"/>
              </a:buClr>
              <a:buSzPts val="1300"/>
              <a:buFont typeface="Raleway"/>
              <a:buChar char="➔"/>
            </a:pPr>
            <a:r>
              <a:rPr b="1" lang="en">
                <a:solidFill>
                  <a:schemeClr val="dk1"/>
                </a:solidFill>
              </a:rPr>
              <a:t>Some countries (e.g., Belgium, Costa Rica) had high life expectancy but lower happiness, pointing to the stronger role of social support and wealth</a:t>
            </a:r>
            <a:endParaRPr b="1">
              <a:solidFill>
                <a:schemeClr val="dk1"/>
              </a:solidFill>
            </a:endParaRPr>
          </a:p>
          <a:p>
            <a:pPr indent="0" lvl="0" marL="0" rtl="0" algn="l">
              <a:spcBef>
                <a:spcPts val="1000"/>
              </a:spcBef>
              <a:spcAft>
                <a:spcPts val="0"/>
              </a:spcAft>
              <a:buNone/>
            </a:pPr>
            <a:r>
              <a:t/>
            </a:r>
            <a:endParaRPr b="1">
              <a:solidFill>
                <a:schemeClr val="dk1"/>
              </a:solidFill>
            </a:endParaRPr>
          </a:p>
          <a:p>
            <a:pPr indent="0" lvl="0" marL="0" rtl="0" algn="l">
              <a:spcBef>
                <a:spcPts val="1000"/>
              </a:spcBef>
              <a:spcAft>
                <a:spcPts val="1000"/>
              </a:spcAft>
              <a:buNone/>
            </a:pPr>
            <a:r>
              <a:t/>
            </a:r>
            <a:endParaRPr b="1">
              <a:solidFill>
                <a:schemeClr val="dk1"/>
              </a:solidFill>
            </a:endParaRPr>
          </a:p>
        </p:txBody>
      </p:sp>
      <p:sp>
        <p:nvSpPr>
          <p:cNvPr id="175" name="Google Shape;175;p23"/>
          <p:cNvSpPr txBox="1"/>
          <p:nvPr>
            <p:ph type="title"/>
          </p:nvPr>
        </p:nvSpPr>
        <p:spPr>
          <a:xfrm>
            <a:off x="132800" y="502250"/>
            <a:ext cx="84606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1"/>
                </a:solidFill>
                <a:highlight>
                  <a:schemeClr val="lt1"/>
                </a:highlight>
              </a:rPr>
              <a:t>Which countries report the highest happiness scores over the last five years?</a:t>
            </a:r>
            <a:endParaRPr sz="2500">
              <a:solidFill>
                <a:schemeClr val="dk1"/>
              </a:solidFill>
              <a:highlight>
                <a:schemeClr val="lt1"/>
              </a:highlight>
            </a:endParaRPr>
          </a:p>
        </p:txBody>
      </p:sp>
      <p:pic>
        <p:nvPicPr>
          <p:cNvPr id="176" name="Google Shape;176;p23"/>
          <p:cNvPicPr preferRelativeResize="0"/>
          <p:nvPr/>
        </p:nvPicPr>
        <p:blipFill rotWithShape="1">
          <a:blip r:embed="rId3">
            <a:alphaModFix/>
          </a:blip>
          <a:srcRect b="3670" l="2910" r="1660" t="0"/>
          <a:stretch/>
        </p:blipFill>
        <p:spPr>
          <a:xfrm>
            <a:off x="73275" y="1409825"/>
            <a:ext cx="4425990" cy="3436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4"/>
          <p:cNvSpPr txBox="1"/>
          <p:nvPr>
            <p:ph idx="1" type="body"/>
          </p:nvPr>
        </p:nvSpPr>
        <p:spPr>
          <a:xfrm>
            <a:off x="4509075" y="1203050"/>
            <a:ext cx="4287000" cy="3625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Char char="➔"/>
            </a:pPr>
            <a:r>
              <a:rPr b="1" lang="en" sz="1600" u="sng">
                <a:solidFill>
                  <a:schemeClr val="dk1"/>
                </a:solidFill>
              </a:rPr>
              <a:t>Strongest positive: </a:t>
            </a:r>
            <a:endParaRPr b="1" sz="1600" u="sng">
              <a:solidFill>
                <a:schemeClr val="dk1"/>
              </a:solidFill>
            </a:endParaRPr>
          </a:p>
          <a:p>
            <a:pPr indent="0" lvl="0" marL="457200" rtl="0" algn="l">
              <a:spcBef>
                <a:spcPts val="1000"/>
              </a:spcBef>
              <a:spcAft>
                <a:spcPts val="0"/>
              </a:spcAft>
              <a:buNone/>
            </a:pPr>
            <a:r>
              <a:rPr b="1" lang="en" sz="1600">
                <a:solidFill>
                  <a:schemeClr val="dk1"/>
                </a:solidFill>
              </a:rPr>
              <a:t>Wealth, Social Support, Life Expectancy </a:t>
            </a:r>
            <a:endParaRPr b="1" sz="1600">
              <a:solidFill>
                <a:schemeClr val="dk1"/>
              </a:solidFill>
            </a:endParaRPr>
          </a:p>
          <a:p>
            <a:pPr indent="-330200" lvl="0" marL="457200" rtl="0" algn="l">
              <a:spcBef>
                <a:spcPts val="1200"/>
              </a:spcBef>
              <a:spcAft>
                <a:spcPts val="0"/>
              </a:spcAft>
              <a:buClr>
                <a:schemeClr val="dk1"/>
              </a:buClr>
              <a:buSzPts val="1600"/>
              <a:buFont typeface="Arial"/>
              <a:buChar char="➔"/>
            </a:pPr>
            <a:r>
              <a:rPr b="1" lang="en" sz="1600" u="sng">
                <a:solidFill>
                  <a:schemeClr val="dk1"/>
                </a:solidFill>
              </a:rPr>
              <a:t>No correlation: </a:t>
            </a:r>
            <a:endParaRPr b="1" sz="1600" u="sng">
              <a:solidFill>
                <a:schemeClr val="dk1"/>
              </a:solidFill>
            </a:endParaRPr>
          </a:p>
          <a:p>
            <a:pPr indent="0" lvl="0" marL="457200" rtl="0" algn="l">
              <a:spcBef>
                <a:spcPts val="1200"/>
              </a:spcBef>
              <a:spcAft>
                <a:spcPts val="1200"/>
              </a:spcAft>
              <a:buNone/>
            </a:pPr>
            <a:r>
              <a:rPr b="1" lang="en" sz="1600">
                <a:solidFill>
                  <a:schemeClr val="dk1"/>
                </a:solidFill>
              </a:rPr>
              <a:t>Trust in Government</a:t>
            </a:r>
            <a:endParaRPr b="1" sz="1600">
              <a:solidFill>
                <a:schemeClr val="dk1"/>
              </a:solidFill>
            </a:endParaRPr>
          </a:p>
        </p:txBody>
      </p:sp>
      <p:sp>
        <p:nvSpPr>
          <p:cNvPr id="182" name="Google Shape;182;p24"/>
          <p:cNvSpPr txBox="1"/>
          <p:nvPr>
            <p:ph type="title"/>
          </p:nvPr>
        </p:nvSpPr>
        <p:spPr>
          <a:xfrm>
            <a:off x="174675" y="439450"/>
            <a:ext cx="84606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rgbClr val="45818E"/>
                </a:solidFill>
                <a:highlight>
                  <a:schemeClr val="lt1"/>
                </a:highlight>
              </a:rPr>
              <a:t>What features are most strongly correlated with happiness?</a:t>
            </a:r>
            <a:endParaRPr sz="2500">
              <a:solidFill>
                <a:srgbClr val="45818E"/>
              </a:solidFill>
              <a:highlight>
                <a:schemeClr val="lt1"/>
              </a:highlight>
            </a:endParaRPr>
          </a:p>
        </p:txBody>
      </p:sp>
      <p:pic>
        <p:nvPicPr>
          <p:cNvPr id="183" name="Google Shape;183;p24"/>
          <p:cNvPicPr preferRelativeResize="0"/>
          <p:nvPr/>
        </p:nvPicPr>
        <p:blipFill>
          <a:blip r:embed="rId3">
            <a:alphaModFix/>
          </a:blip>
          <a:stretch>
            <a:fillRect/>
          </a:stretch>
        </p:blipFill>
        <p:spPr>
          <a:xfrm>
            <a:off x="53225" y="1402575"/>
            <a:ext cx="4175450" cy="3569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5"/>
          <p:cNvSpPr txBox="1"/>
          <p:nvPr>
            <p:ph type="title"/>
          </p:nvPr>
        </p:nvSpPr>
        <p:spPr>
          <a:xfrm>
            <a:off x="100725" y="67750"/>
            <a:ext cx="84606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rgbClr val="45818E"/>
                </a:solidFill>
                <a:highlight>
                  <a:schemeClr val="lt1"/>
                </a:highlight>
              </a:rPr>
              <a:t>Do countries with higher trust in government report higher happiness?</a:t>
            </a:r>
            <a:endParaRPr sz="2300">
              <a:solidFill>
                <a:srgbClr val="45818E"/>
              </a:solidFill>
              <a:highlight>
                <a:schemeClr val="lt1"/>
              </a:highlight>
            </a:endParaRPr>
          </a:p>
        </p:txBody>
      </p:sp>
      <p:pic>
        <p:nvPicPr>
          <p:cNvPr id="189" name="Google Shape;189;p25" title="Screenshot 2025-05-04 at 6.04.31 PM.png"/>
          <p:cNvPicPr preferRelativeResize="0"/>
          <p:nvPr/>
        </p:nvPicPr>
        <p:blipFill>
          <a:blip r:embed="rId3">
            <a:alphaModFix/>
          </a:blip>
          <a:stretch>
            <a:fillRect/>
          </a:stretch>
        </p:blipFill>
        <p:spPr>
          <a:xfrm>
            <a:off x="5034675" y="535200"/>
            <a:ext cx="3914674" cy="2168100"/>
          </a:xfrm>
          <a:prstGeom prst="rect">
            <a:avLst/>
          </a:prstGeom>
          <a:noFill/>
          <a:ln cap="flat" cmpd="sng" w="9525">
            <a:solidFill>
              <a:srgbClr val="1A9988"/>
            </a:solidFill>
            <a:prstDash val="solid"/>
            <a:round/>
            <a:headEnd len="sm" w="sm" type="none"/>
            <a:tailEnd len="sm" w="sm" type="none"/>
          </a:ln>
        </p:spPr>
      </p:pic>
      <p:pic>
        <p:nvPicPr>
          <p:cNvPr id="190" name="Google Shape;190;p25" title="Screenshot 2025-05-04 at 6.06.08 PM.png"/>
          <p:cNvPicPr preferRelativeResize="0"/>
          <p:nvPr/>
        </p:nvPicPr>
        <p:blipFill>
          <a:blip r:embed="rId4">
            <a:alphaModFix/>
          </a:blip>
          <a:stretch>
            <a:fillRect/>
          </a:stretch>
        </p:blipFill>
        <p:spPr>
          <a:xfrm>
            <a:off x="5034675" y="2753452"/>
            <a:ext cx="3914676" cy="2326174"/>
          </a:xfrm>
          <a:prstGeom prst="rect">
            <a:avLst/>
          </a:prstGeom>
          <a:noFill/>
          <a:ln cap="flat" cmpd="sng" w="9525">
            <a:solidFill>
              <a:srgbClr val="1B9A89"/>
            </a:solidFill>
            <a:prstDash val="solid"/>
            <a:round/>
            <a:headEnd len="sm" w="sm" type="none"/>
            <a:tailEnd len="sm" w="sm" type="none"/>
          </a:ln>
        </p:spPr>
      </p:pic>
      <p:pic>
        <p:nvPicPr>
          <p:cNvPr id="191" name="Google Shape;191;p25" title="Screenshot 2025-05-04 at 6.07.48 PM.png"/>
          <p:cNvPicPr preferRelativeResize="0"/>
          <p:nvPr/>
        </p:nvPicPr>
        <p:blipFill>
          <a:blip r:embed="rId5">
            <a:alphaModFix/>
          </a:blip>
          <a:stretch>
            <a:fillRect/>
          </a:stretch>
        </p:blipFill>
        <p:spPr>
          <a:xfrm>
            <a:off x="557900" y="1207701"/>
            <a:ext cx="3758252" cy="2261513"/>
          </a:xfrm>
          <a:prstGeom prst="rect">
            <a:avLst/>
          </a:prstGeom>
          <a:noFill/>
          <a:ln cap="flat" cmpd="sng" w="9525">
            <a:solidFill>
              <a:schemeClr val="dk1"/>
            </a:solidFill>
            <a:prstDash val="solid"/>
            <a:round/>
            <a:headEnd len="sm" w="sm" type="none"/>
            <a:tailEnd len="sm" w="sm" type="none"/>
          </a:ln>
        </p:spPr>
      </p:pic>
      <p:pic>
        <p:nvPicPr>
          <p:cNvPr id="192" name="Google Shape;192;p25" title="Screenshot 2025-05-04 at 6.10.57 PM.png"/>
          <p:cNvPicPr preferRelativeResize="0"/>
          <p:nvPr/>
        </p:nvPicPr>
        <p:blipFill>
          <a:blip r:embed="rId6">
            <a:alphaModFix/>
          </a:blip>
          <a:stretch>
            <a:fillRect/>
          </a:stretch>
        </p:blipFill>
        <p:spPr>
          <a:xfrm>
            <a:off x="3913450" y="1207700"/>
            <a:ext cx="1053150" cy="356225"/>
          </a:xfrm>
          <a:prstGeom prst="rect">
            <a:avLst/>
          </a:prstGeom>
          <a:noFill/>
          <a:ln>
            <a:noFill/>
          </a:ln>
        </p:spPr>
      </p:pic>
      <p:sp>
        <p:nvSpPr>
          <p:cNvPr id="193" name="Google Shape;193;p25"/>
          <p:cNvSpPr txBox="1"/>
          <p:nvPr>
            <p:ph idx="1" type="body"/>
          </p:nvPr>
        </p:nvSpPr>
        <p:spPr>
          <a:xfrm>
            <a:off x="219450" y="3380025"/>
            <a:ext cx="4679100" cy="1570800"/>
          </a:xfrm>
          <a:prstGeom prst="rect">
            <a:avLst/>
          </a:prstGeom>
        </p:spPr>
        <p:txBody>
          <a:bodyPr anchorCtr="0" anchor="t" bIns="91425" lIns="91425" spcFirstLastPara="1" rIns="91425" wrap="square" tIns="91425">
            <a:noAutofit/>
          </a:bodyPr>
          <a:lstStyle/>
          <a:p>
            <a:pPr indent="-285750" lvl="0" marL="457200" rtl="0" algn="l">
              <a:lnSpc>
                <a:spcPct val="100000"/>
              </a:lnSpc>
              <a:spcBef>
                <a:spcPts val="1200"/>
              </a:spcBef>
              <a:spcAft>
                <a:spcPts val="0"/>
              </a:spcAft>
              <a:buClr>
                <a:schemeClr val="dk1"/>
              </a:buClr>
              <a:buSzPts val="900"/>
              <a:buFont typeface="Arial"/>
              <a:buChar char="➔"/>
            </a:pPr>
            <a:r>
              <a:rPr b="1" lang="en" sz="1100">
                <a:solidFill>
                  <a:schemeClr val="dk1"/>
                </a:solidFill>
                <a:latin typeface="Arial"/>
                <a:ea typeface="Arial"/>
                <a:cs typeface="Arial"/>
                <a:sym typeface="Arial"/>
              </a:rPr>
              <a:t>Created </a:t>
            </a:r>
            <a:r>
              <a:rPr b="1" lang="en" sz="1100" u="sng">
                <a:solidFill>
                  <a:schemeClr val="dk1"/>
                </a:solidFill>
                <a:latin typeface="Arial"/>
                <a:ea typeface="Arial"/>
                <a:cs typeface="Arial"/>
                <a:sym typeface="Arial"/>
              </a:rPr>
              <a:t>interactive dual-line plot</a:t>
            </a:r>
            <a:r>
              <a:rPr b="1" lang="en" sz="1100">
                <a:solidFill>
                  <a:schemeClr val="dk1"/>
                </a:solidFill>
                <a:latin typeface="Arial"/>
                <a:ea typeface="Arial"/>
                <a:cs typeface="Arial"/>
                <a:sym typeface="Arial"/>
              </a:rPr>
              <a:t> by country over time (drop-down menu)</a:t>
            </a:r>
            <a:endParaRPr b="1" sz="1100">
              <a:solidFill>
                <a:schemeClr val="dk1"/>
              </a:solidFill>
              <a:latin typeface="Arial"/>
              <a:ea typeface="Arial"/>
              <a:cs typeface="Arial"/>
              <a:sym typeface="Arial"/>
            </a:endParaRPr>
          </a:p>
          <a:p>
            <a:pPr indent="-285750" lvl="0" marL="457200" rtl="0" algn="l">
              <a:lnSpc>
                <a:spcPct val="100000"/>
              </a:lnSpc>
              <a:spcBef>
                <a:spcPts val="0"/>
              </a:spcBef>
              <a:spcAft>
                <a:spcPts val="0"/>
              </a:spcAft>
              <a:buClr>
                <a:schemeClr val="dk1"/>
              </a:buClr>
              <a:buSzPts val="900"/>
              <a:buFont typeface="Arial"/>
              <a:buChar char="➔"/>
            </a:pPr>
            <a:r>
              <a:rPr b="1" lang="en" sz="1100" u="sng">
                <a:solidFill>
                  <a:schemeClr val="dk1"/>
                </a:solidFill>
                <a:latin typeface="Arial"/>
                <a:ea typeface="Arial"/>
                <a:cs typeface="Arial"/>
                <a:sym typeface="Arial"/>
              </a:rPr>
              <a:t>Only select countries</a:t>
            </a:r>
            <a:r>
              <a:rPr b="1" lang="en" sz="1100">
                <a:solidFill>
                  <a:schemeClr val="dk1"/>
                </a:solidFill>
                <a:latin typeface="Arial"/>
                <a:ea typeface="Arial"/>
                <a:cs typeface="Arial"/>
                <a:sym typeface="Arial"/>
              </a:rPr>
              <a:t> with direct correlation between trust and happiness</a:t>
            </a:r>
            <a:endParaRPr b="1" sz="1100">
              <a:solidFill>
                <a:schemeClr val="dk1"/>
              </a:solidFill>
              <a:latin typeface="Arial"/>
              <a:ea typeface="Arial"/>
              <a:cs typeface="Arial"/>
              <a:sym typeface="Arial"/>
            </a:endParaRPr>
          </a:p>
          <a:p>
            <a:pPr indent="-285750" lvl="0" marL="457200" rtl="0" algn="l">
              <a:lnSpc>
                <a:spcPct val="100000"/>
              </a:lnSpc>
              <a:spcBef>
                <a:spcPts val="0"/>
              </a:spcBef>
              <a:spcAft>
                <a:spcPts val="0"/>
              </a:spcAft>
              <a:buClr>
                <a:schemeClr val="dk1"/>
              </a:buClr>
              <a:buSzPts val="900"/>
              <a:buFont typeface="Arial"/>
              <a:buChar char="➔"/>
            </a:pPr>
            <a:r>
              <a:rPr b="1" lang="en" sz="1100">
                <a:solidFill>
                  <a:schemeClr val="dk1"/>
                </a:solidFill>
                <a:latin typeface="Arial"/>
                <a:ea typeface="Arial"/>
                <a:cs typeface="Arial"/>
                <a:sym typeface="Arial"/>
              </a:rPr>
              <a:t>General finding: Little to no relationship between trust and happiness GLOBALLY</a:t>
            </a:r>
            <a:endParaRPr b="1" sz="1100">
              <a:solidFill>
                <a:schemeClr val="dk1"/>
              </a:solidFill>
              <a:latin typeface="Arial"/>
              <a:ea typeface="Arial"/>
              <a:cs typeface="Arial"/>
              <a:sym typeface="Arial"/>
            </a:endParaRPr>
          </a:p>
          <a:p>
            <a:pPr indent="-285750" lvl="0" marL="457200" rtl="0" algn="l">
              <a:lnSpc>
                <a:spcPct val="100000"/>
              </a:lnSpc>
              <a:spcBef>
                <a:spcPts val="0"/>
              </a:spcBef>
              <a:spcAft>
                <a:spcPts val="0"/>
              </a:spcAft>
              <a:buClr>
                <a:schemeClr val="dk1"/>
              </a:buClr>
              <a:buSzPts val="900"/>
              <a:buFont typeface="Arial"/>
              <a:buChar char="➔"/>
            </a:pPr>
            <a:r>
              <a:rPr b="1" lang="en" sz="1100">
                <a:solidFill>
                  <a:schemeClr val="dk1"/>
                </a:solidFill>
                <a:latin typeface="Arial"/>
                <a:ea typeface="Arial"/>
                <a:cs typeface="Arial"/>
                <a:sym typeface="Arial"/>
              </a:rPr>
              <a:t>Exception: Haiti, Yemen, Serbia showed stronger alignment between trust and happiness.</a:t>
            </a:r>
            <a:endParaRPr b="1" sz="900" u="sng">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6"/>
          <p:cNvSpPr txBox="1"/>
          <p:nvPr>
            <p:ph idx="1" type="body"/>
          </p:nvPr>
        </p:nvSpPr>
        <p:spPr>
          <a:xfrm>
            <a:off x="4572000" y="1346200"/>
            <a:ext cx="4440000" cy="3625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b="1" lang="en" sz="1400">
                <a:solidFill>
                  <a:schemeClr val="dk1"/>
                </a:solidFill>
              </a:rPr>
              <a:t>Countries grouped by high vs. low social support (based on median)</a:t>
            </a:r>
            <a:endParaRPr b="1" sz="1400">
              <a:solidFill>
                <a:schemeClr val="dk1"/>
              </a:solidFill>
            </a:endParaRPr>
          </a:p>
          <a:p>
            <a:pPr indent="-317500" lvl="0" marL="457200" rtl="0" algn="l">
              <a:spcBef>
                <a:spcPts val="1000"/>
              </a:spcBef>
              <a:spcAft>
                <a:spcPts val="0"/>
              </a:spcAft>
              <a:buClr>
                <a:schemeClr val="dk1"/>
              </a:buClr>
              <a:buSzPts val="1400"/>
              <a:buChar char="➔"/>
            </a:pPr>
            <a:r>
              <a:rPr b="1" lang="en" sz="1400">
                <a:solidFill>
                  <a:schemeClr val="dk1"/>
                </a:solidFill>
              </a:rPr>
              <a:t>Boxplot showed clear trend: higher social support = higher happiness</a:t>
            </a:r>
            <a:endParaRPr b="1" sz="1400">
              <a:solidFill>
                <a:schemeClr val="dk1"/>
              </a:solidFill>
            </a:endParaRPr>
          </a:p>
          <a:p>
            <a:pPr indent="-317500" lvl="0" marL="457200" rtl="0" algn="l">
              <a:spcBef>
                <a:spcPts val="1000"/>
              </a:spcBef>
              <a:spcAft>
                <a:spcPts val="0"/>
              </a:spcAft>
              <a:buClr>
                <a:schemeClr val="dk1"/>
              </a:buClr>
              <a:buSzPts val="1400"/>
              <a:buChar char="➔"/>
            </a:pPr>
            <a:r>
              <a:rPr b="1" lang="en" sz="1400">
                <a:solidFill>
                  <a:schemeClr val="dk1"/>
                </a:solidFill>
              </a:rPr>
              <a:t>Confirmed by both visualizations and correlation matrix</a:t>
            </a:r>
            <a:endParaRPr b="1" sz="1400">
              <a:solidFill>
                <a:schemeClr val="dk1"/>
              </a:solidFill>
            </a:endParaRPr>
          </a:p>
          <a:p>
            <a:pPr indent="0" lvl="0" marL="0" rtl="0" algn="l">
              <a:spcBef>
                <a:spcPts val="1000"/>
              </a:spcBef>
              <a:spcAft>
                <a:spcPts val="1000"/>
              </a:spcAft>
              <a:buNone/>
            </a:pPr>
            <a:r>
              <a:t/>
            </a:r>
            <a:endParaRPr b="1" sz="1500">
              <a:solidFill>
                <a:schemeClr val="dk1"/>
              </a:solidFill>
            </a:endParaRPr>
          </a:p>
        </p:txBody>
      </p:sp>
      <p:sp>
        <p:nvSpPr>
          <p:cNvPr id="199" name="Google Shape;199;p26"/>
          <p:cNvSpPr txBox="1"/>
          <p:nvPr>
            <p:ph type="title"/>
          </p:nvPr>
        </p:nvSpPr>
        <p:spPr>
          <a:xfrm>
            <a:off x="174675" y="439450"/>
            <a:ext cx="84606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1"/>
                </a:solidFill>
                <a:highlight>
                  <a:schemeClr val="lt1"/>
                </a:highlight>
              </a:rPr>
              <a:t>Are there significant differences in happiness between high and low social support countries?</a:t>
            </a:r>
            <a:endParaRPr sz="2500">
              <a:solidFill>
                <a:schemeClr val="dk1"/>
              </a:solidFill>
              <a:highlight>
                <a:schemeClr val="lt1"/>
              </a:highlight>
            </a:endParaRPr>
          </a:p>
        </p:txBody>
      </p:sp>
      <p:pic>
        <p:nvPicPr>
          <p:cNvPr id="200" name="Google Shape;200;p26"/>
          <p:cNvPicPr preferRelativeResize="0"/>
          <p:nvPr/>
        </p:nvPicPr>
        <p:blipFill>
          <a:blip r:embed="rId3">
            <a:alphaModFix/>
          </a:blip>
          <a:stretch>
            <a:fillRect/>
          </a:stretch>
        </p:blipFill>
        <p:spPr>
          <a:xfrm>
            <a:off x="82904" y="1346200"/>
            <a:ext cx="4489097" cy="3625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7"/>
          <p:cNvSpPr txBox="1"/>
          <p:nvPr>
            <p:ph idx="1" type="body"/>
          </p:nvPr>
        </p:nvSpPr>
        <p:spPr>
          <a:xfrm>
            <a:off x="4950900" y="1252000"/>
            <a:ext cx="4193100" cy="36258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Char char="➔"/>
            </a:pPr>
            <a:r>
              <a:rPr b="1" lang="en">
                <a:solidFill>
                  <a:schemeClr val="dk1"/>
                </a:solidFill>
              </a:rPr>
              <a:t>Scatter plot showed multi-dimensional interaction:</a:t>
            </a:r>
            <a:endParaRPr b="1">
              <a:solidFill>
                <a:schemeClr val="dk1"/>
              </a:solidFill>
            </a:endParaRPr>
          </a:p>
          <a:p>
            <a:pPr indent="-311150" lvl="1" marL="914400" rtl="0" algn="l">
              <a:spcBef>
                <a:spcPts val="1000"/>
              </a:spcBef>
              <a:spcAft>
                <a:spcPts val="0"/>
              </a:spcAft>
              <a:buClr>
                <a:schemeClr val="dk1"/>
              </a:buClr>
              <a:buSzPts val="1300"/>
              <a:buChar char="◆"/>
            </a:pPr>
            <a:r>
              <a:rPr b="1" lang="en" sz="1300">
                <a:solidFill>
                  <a:schemeClr val="dk1"/>
                </a:solidFill>
              </a:rPr>
              <a:t>X = Wealth</a:t>
            </a:r>
            <a:endParaRPr b="1" sz="1300">
              <a:solidFill>
                <a:schemeClr val="dk1"/>
              </a:solidFill>
            </a:endParaRPr>
          </a:p>
          <a:p>
            <a:pPr indent="-311150" lvl="1" marL="914400" rtl="0" algn="l">
              <a:spcBef>
                <a:spcPts val="0"/>
              </a:spcBef>
              <a:spcAft>
                <a:spcPts val="0"/>
              </a:spcAft>
              <a:buClr>
                <a:schemeClr val="dk1"/>
              </a:buClr>
              <a:buSzPts val="1300"/>
              <a:buChar char="◆"/>
            </a:pPr>
            <a:r>
              <a:rPr b="1" lang="en" sz="1300">
                <a:solidFill>
                  <a:schemeClr val="dk1"/>
                </a:solidFill>
              </a:rPr>
              <a:t>Y = Life Expectancy</a:t>
            </a:r>
            <a:endParaRPr b="1" sz="1300">
              <a:solidFill>
                <a:schemeClr val="dk1"/>
              </a:solidFill>
            </a:endParaRPr>
          </a:p>
          <a:p>
            <a:pPr indent="-311150" lvl="1" marL="914400" rtl="0" algn="l">
              <a:spcBef>
                <a:spcPts val="0"/>
              </a:spcBef>
              <a:spcAft>
                <a:spcPts val="0"/>
              </a:spcAft>
              <a:buClr>
                <a:schemeClr val="dk1"/>
              </a:buClr>
              <a:buSzPts val="1300"/>
              <a:buChar char="◆"/>
            </a:pPr>
            <a:r>
              <a:rPr b="1" lang="en" sz="1300">
                <a:solidFill>
                  <a:schemeClr val="dk1"/>
                </a:solidFill>
              </a:rPr>
              <a:t>Hue = Happiness</a:t>
            </a:r>
            <a:endParaRPr b="1" sz="1300">
              <a:solidFill>
                <a:schemeClr val="dk1"/>
              </a:solidFill>
            </a:endParaRPr>
          </a:p>
          <a:p>
            <a:pPr indent="-311150" lvl="1" marL="914400" rtl="0" algn="l">
              <a:spcBef>
                <a:spcPts val="0"/>
              </a:spcBef>
              <a:spcAft>
                <a:spcPts val="0"/>
              </a:spcAft>
              <a:buClr>
                <a:schemeClr val="dk1"/>
              </a:buClr>
              <a:buSzPts val="1300"/>
              <a:buChar char="◆"/>
            </a:pPr>
            <a:r>
              <a:rPr b="1" lang="en" sz="1300">
                <a:solidFill>
                  <a:schemeClr val="dk1"/>
                </a:solidFill>
              </a:rPr>
              <a:t>Style = Freedom</a:t>
            </a:r>
            <a:endParaRPr b="1" sz="1300">
              <a:solidFill>
                <a:schemeClr val="dk1"/>
              </a:solidFill>
            </a:endParaRPr>
          </a:p>
          <a:p>
            <a:pPr indent="-311150" lvl="0" marL="457200" rtl="0" algn="l">
              <a:spcBef>
                <a:spcPts val="0"/>
              </a:spcBef>
              <a:spcAft>
                <a:spcPts val="0"/>
              </a:spcAft>
              <a:buClr>
                <a:schemeClr val="dk1"/>
              </a:buClr>
              <a:buSzPts val="1300"/>
              <a:buChar char="➔"/>
            </a:pPr>
            <a:r>
              <a:rPr b="1" lang="en">
                <a:solidFill>
                  <a:schemeClr val="dk1"/>
                </a:solidFill>
              </a:rPr>
              <a:t>Countries with high wealth, high life expectancy, and high freedom clustered in high happiness range (6–7)</a:t>
            </a:r>
            <a:endParaRPr b="1">
              <a:solidFill>
                <a:schemeClr val="dk1"/>
              </a:solidFill>
            </a:endParaRPr>
          </a:p>
          <a:p>
            <a:pPr indent="-311150" lvl="0" marL="457200" rtl="0" algn="l">
              <a:spcBef>
                <a:spcPts val="0"/>
              </a:spcBef>
              <a:spcAft>
                <a:spcPts val="0"/>
              </a:spcAft>
              <a:buClr>
                <a:schemeClr val="dk1"/>
              </a:buClr>
              <a:buSzPts val="1300"/>
              <a:buChar char="➔"/>
            </a:pPr>
            <a:r>
              <a:rPr b="1" lang="en">
                <a:solidFill>
                  <a:schemeClr val="dk1"/>
                </a:solidFill>
              </a:rPr>
              <a:t>Freedom alone is not a very strong predictor</a:t>
            </a:r>
            <a:endParaRPr b="1">
              <a:solidFill>
                <a:schemeClr val="dk1"/>
              </a:solidFill>
            </a:endParaRPr>
          </a:p>
          <a:p>
            <a:pPr indent="-311150" lvl="0" marL="457200" rtl="0" algn="l">
              <a:spcBef>
                <a:spcPts val="0"/>
              </a:spcBef>
              <a:spcAft>
                <a:spcPts val="0"/>
              </a:spcAft>
              <a:buClr>
                <a:schemeClr val="dk1"/>
              </a:buClr>
              <a:buSzPts val="1300"/>
              <a:buChar char="➔"/>
            </a:pPr>
            <a:r>
              <a:rPr b="1" lang="en">
                <a:solidFill>
                  <a:schemeClr val="dk1"/>
                </a:solidFill>
              </a:rPr>
              <a:t>Haiti removed due to being an extreme outlier (low life expectancy ~40 years)</a:t>
            </a:r>
            <a:endParaRPr b="1">
              <a:solidFill>
                <a:schemeClr val="dk1"/>
              </a:solidFill>
            </a:endParaRPr>
          </a:p>
          <a:p>
            <a:pPr indent="0" lvl="0" marL="457200" rtl="0" algn="l">
              <a:spcBef>
                <a:spcPts val="1200"/>
              </a:spcBef>
              <a:spcAft>
                <a:spcPts val="0"/>
              </a:spcAft>
              <a:buNone/>
            </a:pPr>
            <a:r>
              <a:t/>
            </a:r>
            <a:endParaRPr b="1">
              <a:solidFill>
                <a:schemeClr val="dk1"/>
              </a:solidFill>
            </a:endParaRPr>
          </a:p>
          <a:p>
            <a:pPr indent="0" lvl="0" marL="0" rtl="0" algn="l">
              <a:spcBef>
                <a:spcPts val="1000"/>
              </a:spcBef>
              <a:spcAft>
                <a:spcPts val="1000"/>
              </a:spcAft>
              <a:buNone/>
            </a:pPr>
            <a:r>
              <a:t/>
            </a:r>
            <a:endParaRPr b="1">
              <a:solidFill>
                <a:schemeClr val="dk1"/>
              </a:solidFill>
            </a:endParaRPr>
          </a:p>
        </p:txBody>
      </p:sp>
      <p:sp>
        <p:nvSpPr>
          <p:cNvPr id="206" name="Google Shape;206;p27"/>
          <p:cNvSpPr txBox="1"/>
          <p:nvPr>
            <p:ph type="title"/>
          </p:nvPr>
        </p:nvSpPr>
        <p:spPr>
          <a:xfrm>
            <a:off x="80475" y="247300"/>
            <a:ext cx="8460600" cy="10989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2500">
                <a:solidFill>
                  <a:schemeClr val="dk1"/>
                </a:solidFill>
                <a:highlight>
                  <a:schemeClr val="lt1"/>
                </a:highlight>
              </a:rPr>
              <a:t>5. </a:t>
            </a:r>
            <a:r>
              <a:rPr lang="en" sz="2500">
                <a:solidFill>
                  <a:schemeClr val="dk1"/>
                </a:solidFill>
                <a:highlight>
                  <a:schemeClr val="lt1"/>
                </a:highlight>
              </a:rPr>
              <a:t>How do freedom, wealth, and life expectancy together explain happiness?</a:t>
            </a:r>
            <a:endParaRPr sz="2500">
              <a:solidFill>
                <a:schemeClr val="dk1"/>
              </a:solidFill>
              <a:highlight>
                <a:schemeClr val="lt1"/>
              </a:highlight>
            </a:endParaRPr>
          </a:p>
          <a:p>
            <a:pPr indent="0" lvl="0" marL="0" rtl="0" algn="l">
              <a:spcBef>
                <a:spcPts val="400"/>
              </a:spcBef>
              <a:spcAft>
                <a:spcPts val="0"/>
              </a:spcAft>
              <a:buNone/>
            </a:pPr>
            <a:r>
              <a:t/>
            </a:r>
            <a:endParaRPr sz="2500">
              <a:solidFill>
                <a:schemeClr val="dk1"/>
              </a:solidFill>
              <a:highlight>
                <a:schemeClr val="lt1"/>
              </a:highlight>
            </a:endParaRPr>
          </a:p>
        </p:txBody>
      </p:sp>
      <p:pic>
        <p:nvPicPr>
          <p:cNvPr id="207" name="Google Shape;207;p27"/>
          <p:cNvPicPr preferRelativeResize="0"/>
          <p:nvPr/>
        </p:nvPicPr>
        <p:blipFill rotWithShape="1">
          <a:blip r:embed="rId3">
            <a:alphaModFix/>
          </a:blip>
          <a:srcRect b="0" l="0" r="21996" t="0"/>
          <a:stretch/>
        </p:blipFill>
        <p:spPr>
          <a:xfrm>
            <a:off x="80475" y="1346200"/>
            <a:ext cx="4294750" cy="3291250"/>
          </a:xfrm>
          <a:prstGeom prst="rect">
            <a:avLst/>
          </a:prstGeom>
          <a:noFill/>
          <a:ln>
            <a:noFill/>
          </a:ln>
        </p:spPr>
      </p:pic>
      <p:pic>
        <p:nvPicPr>
          <p:cNvPr id="208" name="Google Shape;208;p27"/>
          <p:cNvPicPr preferRelativeResize="0"/>
          <p:nvPr/>
        </p:nvPicPr>
        <p:blipFill rotWithShape="1">
          <a:blip r:embed="rId3">
            <a:alphaModFix/>
          </a:blip>
          <a:srcRect b="51715" l="80176" r="0" t="5349"/>
          <a:stretch/>
        </p:blipFill>
        <p:spPr>
          <a:xfrm>
            <a:off x="3859400" y="2669075"/>
            <a:ext cx="1091499" cy="1413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8"/>
          <p:cNvSpPr txBox="1"/>
          <p:nvPr>
            <p:ph type="title"/>
          </p:nvPr>
        </p:nvSpPr>
        <p:spPr>
          <a:xfrm>
            <a:off x="300850" y="1352625"/>
            <a:ext cx="3300900" cy="168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ML Model </a:t>
            </a:r>
            <a:endParaRPr/>
          </a:p>
          <a:p>
            <a:pPr indent="0" lvl="0" marL="0" rtl="0" algn="l">
              <a:spcBef>
                <a:spcPts val="0"/>
              </a:spcBef>
              <a:spcAft>
                <a:spcPts val="0"/>
              </a:spcAft>
              <a:buNone/>
            </a:pPr>
            <a:r>
              <a:rPr lang="en"/>
              <a:t>Development</a:t>
            </a:r>
            <a:endParaRPr/>
          </a:p>
        </p:txBody>
      </p:sp>
      <p:sp>
        <p:nvSpPr>
          <p:cNvPr id="214" name="Google Shape;214;p28"/>
          <p:cNvSpPr txBox="1"/>
          <p:nvPr/>
        </p:nvSpPr>
        <p:spPr>
          <a:xfrm>
            <a:off x="3295850" y="198200"/>
            <a:ext cx="5665500" cy="4840200"/>
          </a:xfrm>
          <a:prstGeom prst="rect">
            <a:avLst/>
          </a:prstGeom>
          <a:solidFill>
            <a:schemeClr val="lt1"/>
          </a:solidFill>
          <a:ln>
            <a:noFill/>
          </a:ln>
        </p:spPr>
        <p:txBody>
          <a:bodyPr anchorCtr="0" anchor="t" bIns="91425" lIns="91425" spcFirstLastPara="1" rIns="91425" wrap="square" tIns="91425">
            <a:noAutofit/>
          </a:bodyPr>
          <a:lstStyle/>
          <a:p>
            <a:pPr indent="-323850" lvl="0" marL="457200" rtl="0" algn="l">
              <a:lnSpc>
                <a:spcPct val="150000"/>
              </a:lnSpc>
              <a:spcBef>
                <a:spcPts val="1200"/>
              </a:spcBef>
              <a:spcAft>
                <a:spcPts val="0"/>
              </a:spcAft>
              <a:buClr>
                <a:schemeClr val="dk1"/>
              </a:buClr>
              <a:buSzPts val="1500"/>
              <a:buChar char="●"/>
            </a:pPr>
            <a:r>
              <a:rPr b="1" lang="en" sz="1500">
                <a:solidFill>
                  <a:schemeClr val="dk1"/>
                </a:solidFill>
                <a:latin typeface="Lato"/>
                <a:ea typeface="Lato"/>
                <a:cs typeface="Lato"/>
                <a:sym typeface="Lato"/>
              </a:rPr>
              <a:t>Target variable: Happiness (</a:t>
            </a:r>
            <a:r>
              <a:rPr b="1" lang="en" sz="1500">
                <a:solidFill>
                  <a:schemeClr val="dk1"/>
                </a:solidFill>
                <a:latin typeface="Lato"/>
                <a:ea typeface="Lato"/>
                <a:cs typeface="Lato"/>
                <a:sym typeface="Lato"/>
              </a:rPr>
              <a:t>continuous</a:t>
            </a:r>
            <a:r>
              <a:rPr b="1" lang="en" sz="1500">
                <a:solidFill>
                  <a:schemeClr val="dk1"/>
                </a:solidFill>
                <a:latin typeface="Lato"/>
                <a:ea typeface="Lato"/>
                <a:cs typeface="Lato"/>
                <a:sym typeface="Lato"/>
              </a:rPr>
              <a:t>) → used regression models</a:t>
            </a:r>
            <a:endParaRPr b="1" sz="1500">
              <a:solidFill>
                <a:schemeClr val="dk1"/>
              </a:solidFill>
              <a:latin typeface="Lato"/>
              <a:ea typeface="Lato"/>
              <a:cs typeface="Lato"/>
              <a:sym typeface="Lato"/>
            </a:endParaRPr>
          </a:p>
          <a:p>
            <a:pPr indent="-323850" lvl="0" marL="457200" rtl="0" algn="l">
              <a:lnSpc>
                <a:spcPct val="150000"/>
              </a:lnSpc>
              <a:spcBef>
                <a:spcPts val="0"/>
              </a:spcBef>
              <a:spcAft>
                <a:spcPts val="0"/>
              </a:spcAft>
              <a:buClr>
                <a:schemeClr val="dk1"/>
              </a:buClr>
              <a:buSzPts val="1500"/>
              <a:buChar char="●"/>
            </a:pPr>
            <a:r>
              <a:rPr b="1" lang="en" sz="1500">
                <a:solidFill>
                  <a:schemeClr val="dk1"/>
                </a:solidFill>
                <a:latin typeface="Lato"/>
                <a:ea typeface="Lato"/>
                <a:cs typeface="Lato"/>
                <a:sym typeface="Lato"/>
              </a:rPr>
              <a:t>Split</a:t>
            </a:r>
            <a:r>
              <a:rPr b="1" lang="en" sz="1500">
                <a:solidFill>
                  <a:schemeClr val="dk1"/>
                </a:solidFill>
                <a:latin typeface="Lato"/>
                <a:ea typeface="Lato"/>
                <a:cs typeface="Lato"/>
                <a:sym typeface="Lato"/>
              </a:rPr>
              <a:t> dataset into 80/20 for training/testing to preserve generalization</a:t>
            </a:r>
            <a:endParaRPr b="1" sz="1500">
              <a:solidFill>
                <a:schemeClr val="dk1"/>
              </a:solidFill>
              <a:latin typeface="Lato"/>
              <a:ea typeface="Lato"/>
              <a:cs typeface="Lato"/>
              <a:sym typeface="Lato"/>
            </a:endParaRPr>
          </a:p>
          <a:p>
            <a:pPr indent="-323850" lvl="0" marL="457200" rtl="0" algn="l">
              <a:lnSpc>
                <a:spcPct val="150000"/>
              </a:lnSpc>
              <a:spcBef>
                <a:spcPts val="0"/>
              </a:spcBef>
              <a:spcAft>
                <a:spcPts val="0"/>
              </a:spcAft>
              <a:buClr>
                <a:schemeClr val="dk1"/>
              </a:buClr>
              <a:buSzPts val="1500"/>
              <a:buChar char="●"/>
            </a:pPr>
            <a:r>
              <a:rPr b="1" lang="en" sz="1500">
                <a:solidFill>
                  <a:schemeClr val="dk1"/>
                </a:solidFill>
                <a:latin typeface="Lato"/>
                <a:ea typeface="Lato"/>
                <a:cs typeface="Lato"/>
                <a:sym typeface="Lato"/>
              </a:rPr>
              <a:t>Libraries/Tools Used:</a:t>
            </a:r>
            <a:endParaRPr b="1" sz="1500">
              <a:solidFill>
                <a:schemeClr val="dk1"/>
              </a:solidFill>
              <a:latin typeface="Lato"/>
              <a:ea typeface="Lato"/>
              <a:cs typeface="Lato"/>
              <a:sym typeface="Lato"/>
            </a:endParaRPr>
          </a:p>
          <a:p>
            <a:pPr indent="-323850" lvl="0" marL="971550" rtl="0" algn="l">
              <a:lnSpc>
                <a:spcPct val="150000"/>
              </a:lnSpc>
              <a:spcBef>
                <a:spcPts val="0"/>
              </a:spcBef>
              <a:spcAft>
                <a:spcPts val="0"/>
              </a:spcAft>
              <a:buClr>
                <a:schemeClr val="dk1"/>
              </a:buClr>
              <a:buSzPts val="1500"/>
              <a:buFont typeface="Lato"/>
              <a:buChar char="➢"/>
            </a:pPr>
            <a:r>
              <a:rPr b="1" lang="en" sz="1500">
                <a:solidFill>
                  <a:schemeClr val="dk1"/>
                </a:solidFill>
                <a:latin typeface="Lato"/>
                <a:ea typeface="Lato"/>
                <a:cs typeface="Lato"/>
                <a:sym typeface="Lato"/>
              </a:rPr>
              <a:t>Pandas</a:t>
            </a:r>
            <a:endParaRPr b="1" sz="1500">
              <a:solidFill>
                <a:schemeClr val="dk1"/>
              </a:solidFill>
              <a:latin typeface="Lato"/>
              <a:ea typeface="Lato"/>
              <a:cs typeface="Lato"/>
              <a:sym typeface="Lato"/>
            </a:endParaRPr>
          </a:p>
          <a:p>
            <a:pPr indent="-323850" lvl="0" marL="971550" rtl="0" algn="l">
              <a:lnSpc>
                <a:spcPct val="150000"/>
              </a:lnSpc>
              <a:spcBef>
                <a:spcPts val="0"/>
              </a:spcBef>
              <a:spcAft>
                <a:spcPts val="0"/>
              </a:spcAft>
              <a:buClr>
                <a:schemeClr val="dk1"/>
              </a:buClr>
              <a:buSzPts val="1500"/>
              <a:buFont typeface="Lato"/>
              <a:buChar char="➢"/>
            </a:pPr>
            <a:r>
              <a:rPr b="1" lang="en" sz="1500">
                <a:solidFill>
                  <a:schemeClr val="dk1"/>
                </a:solidFill>
                <a:latin typeface="Lato"/>
                <a:ea typeface="Lato"/>
                <a:cs typeface="Lato"/>
                <a:sym typeface="Lato"/>
              </a:rPr>
              <a:t>Seaborn</a:t>
            </a:r>
            <a:endParaRPr b="1" sz="1500">
              <a:solidFill>
                <a:schemeClr val="dk1"/>
              </a:solidFill>
              <a:latin typeface="Lato"/>
              <a:ea typeface="Lato"/>
              <a:cs typeface="Lato"/>
              <a:sym typeface="Lato"/>
            </a:endParaRPr>
          </a:p>
          <a:p>
            <a:pPr indent="-323850" lvl="0" marL="971550" rtl="0" algn="l">
              <a:lnSpc>
                <a:spcPct val="150000"/>
              </a:lnSpc>
              <a:spcBef>
                <a:spcPts val="0"/>
              </a:spcBef>
              <a:spcAft>
                <a:spcPts val="0"/>
              </a:spcAft>
              <a:buClr>
                <a:schemeClr val="dk1"/>
              </a:buClr>
              <a:buSzPts val="1500"/>
              <a:buFont typeface="Lato"/>
              <a:buChar char="➢"/>
            </a:pPr>
            <a:r>
              <a:rPr b="1" lang="en" sz="1500">
                <a:solidFill>
                  <a:schemeClr val="dk1"/>
                </a:solidFill>
                <a:latin typeface="Lato"/>
                <a:ea typeface="Lato"/>
                <a:cs typeface="Lato"/>
                <a:sym typeface="Lato"/>
              </a:rPr>
              <a:t>MatPlotLib</a:t>
            </a:r>
            <a:endParaRPr b="1" sz="1500">
              <a:solidFill>
                <a:schemeClr val="dk1"/>
              </a:solidFill>
              <a:latin typeface="Lato"/>
              <a:ea typeface="Lato"/>
              <a:cs typeface="Lato"/>
              <a:sym typeface="Lato"/>
            </a:endParaRPr>
          </a:p>
          <a:p>
            <a:pPr indent="-323850" lvl="0" marL="971550" rtl="0" algn="l">
              <a:lnSpc>
                <a:spcPct val="150000"/>
              </a:lnSpc>
              <a:spcBef>
                <a:spcPts val="0"/>
              </a:spcBef>
              <a:spcAft>
                <a:spcPts val="0"/>
              </a:spcAft>
              <a:buClr>
                <a:schemeClr val="dk1"/>
              </a:buClr>
              <a:buSzPts val="1500"/>
              <a:buFont typeface="Lato"/>
              <a:buChar char="➢"/>
            </a:pPr>
            <a:r>
              <a:rPr b="1" lang="en" sz="1500">
                <a:solidFill>
                  <a:schemeClr val="dk1"/>
                </a:solidFill>
                <a:latin typeface="Lato"/>
                <a:ea typeface="Lato"/>
                <a:cs typeface="Lato"/>
                <a:sym typeface="Lato"/>
              </a:rPr>
              <a:t>Plotly</a:t>
            </a:r>
            <a:endParaRPr b="1" sz="1500">
              <a:solidFill>
                <a:schemeClr val="dk1"/>
              </a:solidFill>
              <a:latin typeface="Lato"/>
              <a:ea typeface="Lato"/>
              <a:cs typeface="Lato"/>
              <a:sym typeface="Lato"/>
            </a:endParaRPr>
          </a:p>
          <a:p>
            <a:pPr indent="-323850" lvl="0" marL="971550" rtl="0" algn="l">
              <a:lnSpc>
                <a:spcPct val="150000"/>
              </a:lnSpc>
              <a:spcBef>
                <a:spcPts val="0"/>
              </a:spcBef>
              <a:spcAft>
                <a:spcPts val="0"/>
              </a:spcAft>
              <a:buClr>
                <a:schemeClr val="dk1"/>
              </a:buClr>
              <a:buSzPts val="1500"/>
              <a:buFont typeface="Lato"/>
              <a:buChar char="➢"/>
            </a:pPr>
            <a:r>
              <a:rPr b="1" lang="en" sz="1500">
                <a:solidFill>
                  <a:schemeClr val="dk1"/>
                </a:solidFill>
                <a:latin typeface="Lato"/>
                <a:ea typeface="Lato"/>
                <a:cs typeface="Lato"/>
                <a:sym typeface="Lato"/>
              </a:rPr>
              <a:t>Scikit-learn aka sklearn</a:t>
            </a:r>
            <a:endParaRPr b="1" sz="1500">
              <a:solidFill>
                <a:schemeClr val="dk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9"/>
          <p:cNvSpPr txBox="1"/>
          <p:nvPr>
            <p:ph type="title"/>
          </p:nvPr>
        </p:nvSpPr>
        <p:spPr>
          <a:xfrm>
            <a:off x="300850" y="1352625"/>
            <a:ext cx="2933400" cy="168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Regression Models Trained</a:t>
            </a:r>
            <a:endParaRPr/>
          </a:p>
        </p:txBody>
      </p:sp>
      <p:sp>
        <p:nvSpPr>
          <p:cNvPr id="220" name="Google Shape;220;p29"/>
          <p:cNvSpPr txBox="1"/>
          <p:nvPr/>
        </p:nvSpPr>
        <p:spPr>
          <a:xfrm>
            <a:off x="3098250" y="484500"/>
            <a:ext cx="5815500" cy="4659000"/>
          </a:xfrm>
          <a:prstGeom prst="rect">
            <a:avLst/>
          </a:prstGeom>
          <a:solidFill>
            <a:schemeClr val="lt1"/>
          </a:solidFill>
          <a:ln>
            <a:noFill/>
          </a:ln>
        </p:spPr>
        <p:txBody>
          <a:bodyPr anchorCtr="0" anchor="t" bIns="91425" lIns="91425" spcFirstLastPara="1" rIns="91425" wrap="square" tIns="91425">
            <a:noAutofit/>
          </a:bodyPr>
          <a:lstStyle/>
          <a:p>
            <a:pPr indent="-228600" lvl="0" marL="342900" rtl="0" algn="l">
              <a:lnSpc>
                <a:spcPct val="100000"/>
              </a:lnSpc>
              <a:spcBef>
                <a:spcPts val="1200"/>
              </a:spcBef>
              <a:spcAft>
                <a:spcPts val="0"/>
              </a:spcAft>
              <a:buNone/>
            </a:pPr>
            <a:r>
              <a:t/>
            </a:r>
            <a:endParaRPr b="1" sz="1300" u="sng">
              <a:solidFill>
                <a:schemeClr val="dk1"/>
              </a:solidFill>
              <a:latin typeface="Lato"/>
              <a:ea typeface="Lato"/>
              <a:cs typeface="Lato"/>
              <a:sym typeface="Lato"/>
            </a:endParaRPr>
          </a:p>
          <a:p>
            <a:pPr indent="-228600" lvl="0" marL="342900" rtl="0" algn="l">
              <a:lnSpc>
                <a:spcPct val="100000"/>
              </a:lnSpc>
              <a:spcBef>
                <a:spcPts val="1200"/>
              </a:spcBef>
              <a:spcAft>
                <a:spcPts val="0"/>
              </a:spcAft>
              <a:buNone/>
            </a:pPr>
            <a:r>
              <a:rPr b="1" lang="en" sz="1300" u="sng">
                <a:solidFill>
                  <a:schemeClr val="dk1"/>
                </a:solidFill>
                <a:latin typeface="Lato"/>
                <a:ea typeface="Lato"/>
                <a:cs typeface="Lato"/>
                <a:sym typeface="Lato"/>
              </a:rPr>
              <a:t>Models evaluated:</a:t>
            </a:r>
            <a:endParaRPr b="1" sz="1300" u="sng">
              <a:solidFill>
                <a:schemeClr val="dk1"/>
              </a:solidFill>
              <a:latin typeface="Lato"/>
              <a:ea typeface="Lato"/>
              <a:cs typeface="Lato"/>
              <a:sym typeface="Lato"/>
            </a:endParaRPr>
          </a:p>
          <a:p>
            <a:pPr indent="-311150" lvl="0" marL="457200" rtl="0" algn="l">
              <a:lnSpc>
                <a:spcPct val="100000"/>
              </a:lnSpc>
              <a:spcBef>
                <a:spcPts val="1200"/>
              </a:spcBef>
              <a:spcAft>
                <a:spcPts val="0"/>
              </a:spcAft>
              <a:buClr>
                <a:schemeClr val="dk1"/>
              </a:buClr>
              <a:buSzPts val="1300"/>
              <a:buFont typeface="Lato"/>
              <a:buChar char="●"/>
            </a:pPr>
            <a:r>
              <a:rPr b="1" lang="en" sz="1300">
                <a:solidFill>
                  <a:schemeClr val="dk1"/>
                </a:solidFill>
                <a:latin typeface="Lato"/>
                <a:ea typeface="Lato"/>
                <a:cs typeface="Lato"/>
                <a:sym typeface="Lato"/>
              </a:rPr>
              <a:t>Linear Regression</a:t>
            </a:r>
            <a:br>
              <a:rPr b="1" lang="en" sz="1300">
                <a:solidFill>
                  <a:schemeClr val="dk1"/>
                </a:solidFill>
                <a:latin typeface="Lato"/>
                <a:ea typeface="Lato"/>
                <a:cs typeface="Lato"/>
                <a:sym typeface="Lato"/>
              </a:rPr>
            </a:br>
            <a:endParaRPr b="1" sz="1300">
              <a:solidFill>
                <a:schemeClr val="dk1"/>
              </a:solidFill>
              <a:latin typeface="Lato"/>
              <a:ea typeface="Lato"/>
              <a:cs typeface="Lato"/>
              <a:sym typeface="Lato"/>
            </a:endParaRPr>
          </a:p>
          <a:p>
            <a:pPr indent="-311150" lvl="0" marL="457200" rtl="0" algn="l">
              <a:lnSpc>
                <a:spcPct val="100000"/>
              </a:lnSpc>
              <a:spcBef>
                <a:spcPts val="0"/>
              </a:spcBef>
              <a:spcAft>
                <a:spcPts val="0"/>
              </a:spcAft>
              <a:buClr>
                <a:schemeClr val="dk1"/>
              </a:buClr>
              <a:buSzPts val="1300"/>
              <a:buFont typeface="Lato"/>
              <a:buChar char="●"/>
            </a:pPr>
            <a:r>
              <a:rPr b="1" lang="en" sz="1300">
                <a:solidFill>
                  <a:schemeClr val="dk1"/>
                </a:solidFill>
                <a:latin typeface="Lato"/>
                <a:ea typeface="Lato"/>
                <a:cs typeface="Lato"/>
                <a:sym typeface="Lato"/>
              </a:rPr>
              <a:t>K-Nearest Neighbors</a:t>
            </a:r>
            <a:br>
              <a:rPr b="1" lang="en" sz="1300">
                <a:solidFill>
                  <a:schemeClr val="dk1"/>
                </a:solidFill>
                <a:latin typeface="Lato"/>
                <a:ea typeface="Lato"/>
                <a:cs typeface="Lato"/>
                <a:sym typeface="Lato"/>
              </a:rPr>
            </a:br>
            <a:endParaRPr b="1" sz="1300">
              <a:solidFill>
                <a:schemeClr val="dk1"/>
              </a:solidFill>
              <a:latin typeface="Lato"/>
              <a:ea typeface="Lato"/>
              <a:cs typeface="Lato"/>
              <a:sym typeface="Lato"/>
            </a:endParaRPr>
          </a:p>
          <a:p>
            <a:pPr indent="-311150" lvl="0" marL="457200" rtl="0" algn="l">
              <a:lnSpc>
                <a:spcPct val="100000"/>
              </a:lnSpc>
              <a:spcBef>
                <a:spcPts val="0"/>
              </a:spcBef>
              <a:spcAft>
                <a:spcPts val="0"/>
              </a:spcAft>
              <a:buClr>
                <a:schemeClr val="dk1"/>
              </a:buClr>
              <a:buSzPts val="1300"/>
              <a:buFont typeface="Lato"/>
              <a:buChar char="●"/>
            </a:pPr>
            <a:r>
              <a:rPr b="1" lang="en" sz="1300">
                <a:solidFill>
                  <a:schemeClr val="dk1"/>
                </a:solidFill>
                <a:latin typeface="Lato"/>
                <a:ea typeface="Lato"/>
                <a:cs typeface="Lato"/>
                <a:sym typeface="Lato"/>
              </a:rPr>
              <a:t>Decision Tree</a:t>
            </a:r>
            <a:br>
              <a:rPr b="1" lang="en" sz="1300">
                <a:solidFill>
                  <a:schemeClr val="dk1"/>
                </a:solidFill>
                <a:latin typeface="Lato"/>
                <a:ea typeface="Lato"/>
                <a:cs typeface="Lato"/>
                <a:sym typeface="Lato"/>
              </a:rPr>
            </a:br>
            <a:endParaRPr b="1" sz="1300">
              <a:solidFill>
                <a:schemeClr val="dk1"/>
              </a:solidFill>
              <a:latin typeface="Lato"/>
              <a:ea typeface="Lato"/>
              <a:cs typeface="Lato"/>
              <a:sym typeface="Lato"/>
            </a:endParaRPr>
          </a:p>
          <a:p>
            <a:pPr indent="-311150" lvl="0" marL="457200" rtl="0" algn="l">
              <a:lnSpc>
                <a:spcPct val="100000"/>
              </a:lnSpc>
              <a:spcBef>
                <a:spcPts val="0"/>
              </a:spcBef>
              <a:spcAft>
                <a:spcPts val="0"/>
              </a:spcAft>
              <a:buClr>
                <a:schemeClr val="dk1"/>
              </a:buClr>
              <a:buSzPts val="1300"/>
              <a:buFont typeface="Lato"/>
              <a:buChar char="●"/>
            </a:pPr>
            <a:r>
              <a:rPr b="1" lang="en" sz="1300">
                <a:solidFill>
                  <a:schemeClr val="dk1"/>
                </a:solidFill>
                <a:latin typeface="Lato"/>
                <a:ea typeface="Lato"/>
                <a:cs typeface="Lato"/>
                <a:sym typeface="Lato"/>
              </a:rPr>
              <a:t>Random Forest</a:t>
            </a:r>
            <a:br>
              <a:rPr b="1" lang="en" sz="1300">
                <a:solidFill>
                  <a:schemeClr val="dk1"/>
                </a:solidFill>
                <a:latin typeface="Lato"/>
                <a:ea typeface="Lato"/>
                <a:cs typeface="Lato"/>
                <a:sym typeface="Lato"/>
              </a:rPr>
            </a:br>
            <a:endParaRPr b="1" sz="1300">
              <a:solidFill>
                <a:schemeClr val="dk1"/>
              </a:solidFill>
              <a:latin typeface="Lato"/>
              <a:ea typeface="Lato"/>
              <a:cs typeface="Lato"/>
              <a:sym typeface="Lato"/>
            </a:endParaRPr>
          </a:p>
          <a:p>
            <a:pPr indent="0" lvl="0" marL="114300" rtl="0" algn="l">
              <a:lnSpc>
                <a:spcPct val="100000"/>
              </a:lnSpc>
              <a:spcBef>
                <a:spcPts val="1200"/>
              </a:spcBef>
              <a:spcAft>
                <a:spcPts val="0"/>
              </a:spcAft>
              <a:buNone/>
            </a:pPr>
            <a:r>
              <a:rPr b="1" lang="en" sz="1300" u="sng">
                <a:solidFill>
                  <a:schemeClr val="dk1"/>
                </a:solidFill>
                <a:latin typeface="Lato"/>
                <a:ea typeface="Lato"/>
                <a:cs typeface="Lato"/>
                <a:sym typeface="Lato"/>
              </a:rPr>
              <a:t>Performance Metrics:</a:t>
            </a:r>
            <a:endParaRPr b="1" sz="1300" u="sng">
              <a:solidFill>
                <a:schemeClr val="dk1"/>
              </a:solidFill>
              <a:latin typeface="Lato"/>
              <a:ea typeface="Lato"/>
              <a:cs typeface="Lato"/>
              <a:sym typeface="Lato"/>
            </a:endParaRPr>
          </a:p>
          <a:p>
            <a:pPr indent="-311150" lvl="0" marL="457200" rtl="0" algn="l">
              <a:lnSpc>
                <a:spcPct val="100000"/>
              </a:lnSpc>
              <a:spcBef>
                <a:spcPts val="1200"/>
              </a:spcBef>
              <a:spcAft>
                <a:spcPts val="0"/>
              </a:spcAft>
              <a:buClr>
                <a:schemeClr val="dk1"/>
              </a:buClr>
              <a:buSzPts val="1300"/>
              <a:buChar char="●"/>
            </a:pPr>
            <a:r>
              <a:rPr b="1" lang="en" sz="1300">
                <a:solidFill>
                  <a:schemeClr val="dk1"/>
                </a:solidFill>
                <a:latin typeface="Lato"/>
                <a:ea typeface="Lato"/>
                <a:cs typeface="Lato"/>
                <a:sym typeface="Lato"/>
              </a:rPr>
              <a:t>R²: measures how well the model fits</a:t>
            </a:r>
            <a:br>
              <a:rPr b="1" lang="en" sz="1300">
                <a:solidFill>
                  <a:schemeClr val="dk1"/>
                </a:solidFill>
                <a:latin typeface="Lato"/>
                <a:ea typeface="Lato"/>
                <a:cs typeface="Lato"/>
                <a:sym typeface="Lato"/>
              </a:rPr>
            </a:br>
            <a:endParaRPr b="1" sz="1300">
              <a:solidFill>
                <a:schemeClr val="dk1"/>
              </a:solidFill>
              <a:latin typeface="Lato"/>
              <a:ea typeface="Lato"/>
              <a:cs typeface="Lato"/>
              <a:sym typeface="Lato"/>
            </a:endParaRPr>
          </a:p>
          <a:p>
            <a:pPr indent="-311150" lvl="0" marL="457200" rtl="0" algn="l">
              <a:lnSpc>
                <a:spcPct val="100000"/>
              </a:lnSpc>
              <a:spcBef>
                <a:spcPts val="0"/>
              </a:spcBef>
              <a:spcAft>
                <a:spcPts val="0"/>
              </a:spcAft>
              <a:buClr>
                <a:schemeClr val="dk1"/>
              </a:buClr>
              <a:buSzPts val="1300"/>
              <a:buChar char="●"/>
            </a:pPr>
            <a:r>
              <a:rPr b="1" lang="en" sz="1300">
                <a:solidFill>
                  <a:schemeClr val="dk1"/>
                </a:solidFill>
                <a:latin typeface="Lato"/>
                <a:ea typeface="Lato"/>
                <a:cs typeface="Lato"/>
                <a:sym typeface="Lato"/>
              </a:rPr>
              <a:t>MSE: measures average squared error</a:t>
            </a:r>
            <a:br>
              <a:rPr b="1" lang="en" sz="1300">
                <a:solidFill>
                  <a:schemeClr val="dk1"/>
                </a:solidFill>
                <a:latin typeface="Lato"/>
                <a:ea typeface="Lato"/>
                <a:cs typeface="Lato"/>
                <a:sym typeface="Lato"/>
              </a:rPr>
            </a:br>
            <a:endParaRPr b="1" sz="1300">
              <a:solidFill>
                <a:schemeClr val="dk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30"/>
          <p:cNvPicPr preferRelativeResize="0"/>
          <p:nvPr/>
        </p:nvPicPr>
        <p:blipFill>
          <a:blip r:embed="rId3">
            <a:alphaModFix/>
          </a:blip>
          <a:stretch>
            <a:fillRect/>
          </a:stretch>
        </p:blipFill>
        <p:spPr>
          <a:xfrm>
            <a:off x="2650100" y="288150"/>
            <a:ext cx="6341500" cy="3383324"/>
          </a:xfrm>
          <a:prstGeom prst="rect">
            <a:avLst/>
          </a:prstGeom>
          <a:noFill/>
          <a:ln>
            <a:noFill/>
          </a:ln>
        </p:spPr>
      </p:pic>
      <p:graphicFrame>
        <p:nvGraphicFramePr>
          <p:cNvPr id="226" name="Google Shape;226;p30"/>
          <p:cNvGraphicFramePr/>
          <p:nvPr/>
        </p:nvGraphicFramePr>
        <p:xfrm>
          <a:off x="161675" y="284888"/>
          <a:ext cx="3000000" cy="3000000"/>
        </p:xfrm>
        <a:graphic>
          <a:graphicData uri="http://schemas.openxmlformats.org/drawingml/2006/table">
            <a:tbl>
              <a:tblPr>
                <a:noFill/>
                <a:tableStyleId>{356B4657-5565-4E60-9A1F-7A006B6F004B}</a:tableStyleId>
              </a:tblPr>
              <a:tblGrid>
                <a:gridCol w="1106675"/>
                <a:gridCol w="623550"/>
                <a:gridCol w="648150"/>
              </a:tblGrid>
              <a:tr h="444400">
                <a:tc>
                  <a:txBody>
                    <a:bodyPr/>
                    <a:lstStyle/>
                    <a:p>
                      <a:pPr indent="0" lvl="0" marL="0" rtl="0" algn="ctr">
                        <a:lnSpc>
                          <a:spcPct val="115000"/>
                        </a:lnSpc>
                        <a:spcBef>
                          <a:spcPts val="0"/>
                        </a:spcBef>
                        <a:spcAft>
                          <a:spcPts val="0"/>
                        </a:spcAft>
                        <a:buNone/>
                      </a:pPr>
                      <a:r>
                        <a:rPr b="1" lang="en" sz="1100">
                          <a:solidFill>
                            <a:schemeClr val="dk1"/>
                          </a:solidFill>
                          <a:latin typeface="Lato"/>
                          <a:ea typeface="Lato"/>
                          <a:cs typeface="Lato"/>
                          <a:sym typeface="Lato"/>
                        </a:rPr>
                        <a:t>Model</a:t>
                      </a:r>
                      <a:endParaRPr sz="1100">
                        <a:solidFill>
                          <a:schemeClr val="dk1"/>
                        </a:solidFill>
                        <a:latin typeface="Lato"/>
                        <a:ea typeface="Lato"/>
                        <a:cs typeface="Lato"/>
                        <a:sym typeface="Lato"/>
                      </a:endParaRPr>
                    </a:p>
                  </a:txBody>
                  <a:tcPr marT="63500" marB="63500" marR="63500" marL="63500">
                    <a:lnL cap="flat" cmpd="sng" w="6350">
                      <a:solidFill>
                        <a:schemeClr val="dk2"/>
                      </a:solidFill>
                      <a:prstDash val="solid"/>
                      <a:round/>
                      <a:headEnd len="sm" w="sm" type="none"/>
                      <a:tailEnd len="sm" w="sm" type="none"/>
                    </a:lnL>
                    <a:lnR cap="flat" cmpd="sng" w="6350">
                      <a:solidFill>
                        <a:schemeClr val="dk2"/>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chemeClr val="dk2"/>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100">
                          <a:solidFill>
                            <a:schemeClr val="dk1"/>
                          </a:solidFill>
                          <a:latin typeface="Lato"/>
                          <a:ea typeface="Lato"/>
                          <a:cs typeface="Lato"/>
                          <a:sym typeface="Lato"/>
                        </a:rPr>
                        <a:t>R² Score</a:t>
                      </a:r>
                      <a:endParaRPr sz="1100">
                        <a:solidFill>
                          <a:schemeClr val="dk1"/>
                        </a:solidFill>
                        <a:latin typeface="Lato"/>
                        <a:ea typeface="Lato"/>
                        <a:cs typeface="Lato"/>
                        <a:sym typeface="Lato"/>
                      </a:endParaRPr>
                    </a:p>
                  </a:txBody>
                  <a:tcPr marT="63500" marB="63500" marR="63500" marL="63500">
                    <a:lnL cap="flat" cmpd="sng" w="6350">
                      <a:solidFill>
                        <a:schemeClr val="dk2"/>
                      </a:solidFill>
                      <a:prstDash val="solid"/>
                      <a:round/>
                      <a:headEnd len="sm" w="sm" type="none"/>
                      <a:tailEnd len="sm" w="sm" type="none"/>
                    </a:lnL>
                    <a:lnR cap="flat" cmpd="sng" w="6350">
                      <a:solidFill>
                        <a:schemeClr val="dk2"/>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chemeClr val="dk2"/>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100">
                          <a:solidFill>
                            <a:schemeClr val="dk1"/>
                          </a:solidFill>
                          <a:latin typeface="Lato"/>
                          <a:ea typeface="Lato"/>
                          <a:cs typeface="Lato"/>
                          <a:sym typeface="Lato"/>
                        </a:rPr>
                        <a:t>MSE</a:t>
                      </a:r>
                      <a:endParaRPr sz="1100">
                        <a:solidFill>
                          <a:schemeClr val="dk1"/>
                        </a:solidFill>
                        <a:latin typeface="Lato"/>
                        <a:ea typeface="Lato"/>
                        <a:cs typeface="Lato"/>
                        <a:sym typeface="Lato"/>
                      </a:endParaRPr>
                    </a:p>
                  </a:txBody>
                  <a:tcPr marT="63500" marB="63500" marR="63500" marL="63500">
                    <a:lnL cap="flat" cmpd="sng" w="6350">
                      <a:solidFill>
                        <a:schemeClr val="dk2"/>
                      </a:solidFill>
                      <a:prstDash val="solid"/>
                      <a:round/>
                      <a:headEnd len="sm" w="sm" type="none"/>
                      <a:tailEnd len="sm" w="sm" type="none"/>
                    </a:lnL>
                    <a:lnR cap="flat" cmpd="sng" w="6350">
                      <a:solidFill>
                        <a:schemeClr val="dk2"/>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chemeClr val="dk2"/>
                      </a:solidFill>
                      <a:prstDash val="solid"/>
                      <a:round/>
                      <a:headEnd len="sm" w="sm" type="none"/>
                      <a:tailEnd len="sm" w="sm" type="none"/>
                    </a:lnB>
                    <a:solidFill>
                      <a:schemeClr val="lt1"/>
                    </a:solidFill>
                  </a:tcPr>
                </a:tc>
              </a:tr>
              <a:tr h="606700">
                <a:tc>
                  <a:txBody>
                    <a:bodyPr/>
                    <a:lstStyle/>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Linear Regression</a:t>
                      </a:r>
                      <a:endParaRPr sz="1100">
                        <a:solidFill>
                          <a:schemeClr val="dk1"/>
                        </a:solidFill>
                        <a:latin typeface="Lato"/>
                        <a:ea typeface="Lato"/>
                        <a:cs typeface="Lato"/>
                        <a:sym typeface="Lato"/>
                      </a:endParaRPr>
                    </a:p>
                  </a:txBody>
                  <a:tcPr marT="63500" marB="63500" marR="63500" marL="63500">
                    <a:lnL cap="flat" cmpd="sng" w="6350">
                      <a:solidFill>
                        <a:schemeClr val="dk2"/>
                      </a:solidFill>
                      <a:prstDash val="solid"/>
                      <a:round/>
                      <a:headEnd len="sm" w="sm" type="none"/>
                      <a:tailEnd len="sm" w="sm" type="none"/>
                    </a:lnL>
                    <a:lnR cap="flat" cmpd="sng" w="6350">
                      <a:solidFill>
                        <a:schemeClr val="dk2"/>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chemeClr val="dk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0.779</a:t>
                      </a:r>
                      <a:endParaRPr sz="1100">
                        <a:solidFill>
                          <a:schemeClr val="dk1"/>
                        </a:solidFill>
                        <a:latin typeface="Lato"/>
                        <a:ea typeface="Lato"/>
                        <a:cs typeface="Lato"/>
                        <a:sym typeface="Lato"/>
                      </a:endParaRPr>
                    </a:p>
                  </a:txBody>
                  <a:tcPr marT="63500" marB="63500" marR="63500" marL="63500">
                    <a:lnL cap="flat" cmpd="sng" w="6350">
                      <a:solidFill>
                        <a:schemeClr val="dk2"/>
                      </a:solidFill>
                      <a:prstDash val="solid"/>
                      <a:round/>
                      <a:headEnd len="sm" w="sm" type="none"/>
                      <a:tailEnd len="sm" w="sm" type="none"/>
                    </a:lnL>
                    <a:lnR cap="flat" cmpd="sng" w="6350">
                      <a:solidFill>
                        <a:schemeClr val="dk2"/>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chemeClr val="dk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0.281</a:t>
                      </a:r>
                      <a:endParaRPr sz="1100">
                        <a:solidFill>
                          <a:schemeClr val="dk1"/>
                        </a:solidFill>
                        <a:latin typeface="Lato"/>
                        <a:ea typeface="Lato"/>
                        <a:cs typeface="Lato"/>
                        <a:sym typeface="Lato"/>
                      </a:endParaRPr>
                    </a:p>
                  </a:txBody>
                  <a:tcPr marT="63500" marB="63500" marR="63500" marL="63500">
                    <a:lnL cap="flat" cmpd="sng" w="6350">
                      <a:solidFill>
                        <a:schemeClr val="dk2"/>
                      </a:solidFill>
                      <a:prstDash val="solid"/>
                      <a:round/>
                      <a:headEnd len="sm" w="sm" type="none"/>
                      <a:tailEnd len="sm" w="sm" type="none"/>
                    </a:lnL>
                    <a:lnR cap="flat" cmpd="sng" w="6350">
                      <a:solidFill>
                        <a:schemeClr val="dk2"/>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chemeClr val="dk2"/>
                      </a:solidFill>
                      <a:prstDash val="solid"/>
                      <a:round/>
                      <a:headEnd len="sm" w="sm" type="none"/>
                      <a:tailEnd len="sm" w="sm" type="none"/>
                    </a:lnB>
                    <a:solidFill>
                      <a:schemeClr val="lt1"/>
                    </a:solidFill>
                  </a:tcPr>
                </a:tc>
              </a:tr>
              <a:tr h="606700">
                <a:tc>
                  <a:txBody>
                    <a:bodyPr/>
                    <a:lstStyle/>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KNN Regressor</a:t>
                      </a:r>
                      <a:endParaRPr sz="1100">
                        <a:solidFill>
                          <a:schemeClr val="dk1"/>
                        </a:solidFill>
                        <a:latin typeface="Lato"/>
                        <a:ea typeface="Lato"/>
                        <a:cs typeface="Lato"/>
                        <a:sym typeface="Lato"/>
                      </a:endParaRPr>
                    </a:p>
                  </a:txBody>
                  <a:tcPr marT="63500" marB="63500" marR="63500" marL="63500">
                    <a:lnL cap="flat" cmpd="sng" w="6350">
                      <a:solidFill>
                        <a:schemeClr val="dk2"/>
                      </a:solidFill>
                      <a:prstDash val="solid"/>
                      <a:round/>
                      <a:headEnd len="sm" w="sm" type="none"/>
                      <a:tailEnd len="sm" w="sm" type="none"/>
                    </a:lnL>
                    <a:lnR cap="flat" cmpd="sng" w="6350">
                      <a:solidFill>
                        <a:schemeClr val="dk2"/>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chemeClr val="dk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0.680</a:t>
                      </a:r>
                      <a:endParaRPr sz="1100">
                        <a:solidFill>
                          <a:schemeClr val="dk1"/>
                        </a:solidFill>
                        <a:latin typeface="Lato"/>
                        <a:ea typeface="Lato"/>
                        <a:cs typeface="Lato"/>
                        <a:sym typeface="Lato"/>
                      </a:endParaRPr>
                    </a:p>
                  </a:txBody>
                  <a:tcPr marT="63500" marB="63500" marR="63500" marL="63500">
                    <a:lnL cap="flat" cmpd="sng" w="6350">
                      <a:solidFill>
                        <a:schemeClr val="dk2"/>
                      </a:solidFill>
                      <a:prstDash val="solid"/>
                      <a:round/>
                      <a:headEnd len="sm" w="sm" type="none"/>
                      <a:tailEnd len="sm" w="sm" type="none"/>
                    </a:lnL>
                    <a:lnR cap="flat" cmpd="sng" w="6350">
                      <a:solidFill>
                        <a:schemeClr val="dk2"/>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chemeClr val="dk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0.407</a:t>
                      </a:r>
                      <a:endParaRPr sz="1100">
                        <a:solidFill>
                          <a:schemeClr val="dk1"/>
                        </a:solidFill>
                        <a:latin typeface="Lato"/>
                        <a:ea typeface="Lato"/>
                        <a:cs typeface="Lato"/>
                        <a:sym typeface="Lato"/>
                      </a:endParaRPr>
                    </a:p>
                  </a:txBody>
                  <a:tcPr marT="63500" marB="63500" marR="63500" marL="63500">
                    <a:lnL cap="flat" cmpd="sng" w="6350">
                      <a:solidFill>
                        <a:schemeClr val="dk2"/>
                      </a:solidFill>
                      <a:prstDash val="solid"/>
                      <a:round/>
                      <a:headEnd len="sm" w="sm" type="none"/>
                      <a:tailEnd len="sm" w="sm" type="none"/>
                    </a:lnL>
                    <a:lnR cap="flat" cmpd="sng" w="6350">
                      <a:solidFill>
                        <a:schemeClr val="dk2"/>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chemeClr val="dk2"/>
                      </a:solidFill>
                      <a:prstDash val="solid"/>
                      <a:round/>
                      <a:headEnd len="sm" w="sm" type="none"/>
                      <a:tailEnd len="sm" w="sm" type="none"/>
                    </a:lnB>
                    <a:solidFill>
                      <a:schemeClr val="lt1"/>
                    </a:solidFill>
                  </a:tcPr>
                </a:tc>
              </a:tr>
              <a:tr h="834225">
                <a:tc>
                  <a:txBody>
                    <a:bodyPr/>
                    <a:lstStyle/>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Decision Tree Regressor</a:t>
                      </a:r>
                      <a:endParaRPr sz="1100">
                        <a:solidFill>
                          <a:schemeClr val="dk1"/>
                        </a:solidFill>
                        <a:latin typeface="Lato"/>
                        <a:ea typeface="Lato"/>
                        <a:cs typeface="Lato"/>
                        <a:sym typeface="Lato"/>
                      </a:endParaRPr>
                    </a:p>
                  </a:txBody>
                  <a:tcPr marT="63500" marB="63500" marR="63500" marL="63500">
                    <a:lnL cap="flat" cmpd="sng" w="6350">
                      <a:solidFill>
                        <a:schemeClr val="dk2"/>
                      </a:solidFill>
                      <a:prstDash val="solid"/>
                      <a:round/>
                      <a:headEnd len="sm" w="sm" type="none"/>
                      <a:tailEnd len="sm" w="sm" type="none"/>
                    </a:lnL>
                    <a:lnR cap="flat" cmpd="sng" w="6350">
                      <a:solidFill>
                        <a:schemeClr val="dk2"/>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chemeClr val="dk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0.738</a:t>
                      </a:r>
                      <a:endParaRPr sz="1100">
                        <a:solidFill>
                          <a:schemeClr val="dk1"/>
                        </a:solidFill>
                        <a:latin typeface="Lato"/>
                        <a:ea typeface="Lato"/>
                        <a:cs typeface="Lato"/>
                        <a:sym typeface="Lato"/>
                      </a:endParaRPr>
                    </a:p>
                  </a:txBody>
                  <a:tcPr marT="63500" marB="63500" marR="63500" marL="63500">
                    <a:lnL cap="flat" cmpd="sng" w="6350">
                      <a:solidFill>
                        <a:schemeClr val="dk2"/>
                      </a:solidFill>
                      <a:prstDash val="solid"/>
                      <a:round/>
                      <a:headEnd len="sm" w="sm" type="none"/>
                      <a:tailEnd len="sm" w="sm" type="none"/>
                    </a:lnL>
                    <a:lnR cap="flat" cmpd="sng" w="6350">
                      <a:solidFill>
                        <a:schemeClr val="dk2"/>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chemeClr val="dk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0.334</a:t>
                      </a:r>
                      <a:endParaRPr sz="1100">
                        <a:solidFill>
                          <a:schemeClr val="dk1"/>
                        </a:solidFill>
                        <a:latin typeface="Lato"/>
                        <a:ea typeface="Lato"/>
                        <a:cs typeface="Lato"/>
                        <a:sym typeface="Lato"/>
                      </a:endParaRPr>
                    </a:p>
                  </a:txBody>
                  <a:tcPr marT="63500" marB="63500" marR="63500" marL="63500">
                    <a:lnL cap="flat" cmpd="sng" w="6350">
                      <a:solidFill>
                        <a:schemeClr val="dk2"/>
                      </a:solidFill>
                      <a:prstDash val="solid"/>
                      <a:round/>
                      <a:headEnd len="sm" w="sm" type="none"/>
                      <a:tailEnd len="sm" w="sm" type="none"/>
                    </a:lnL>
                    <a:lnR cap="flat" cmpd="sng" w="6350">
                      <a:solidFill>
                        <a:schemeClr val="dk2"/>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chemeClr val="dk2"/>
                      </a:solidFill>
                      <a:prstDash val="solid"/>
                      <a:round/>
                      <a:headEnd len="sm" w="sm" type="none"/>
                      <a:tailEnd len="sm" w="sm" type="none"/>
                    </a:lnB>
                    <a:solidFill>
                      <a:schemeClr val="lt1"/>
                    </a:solidFill>
                  </a:tcPr>
                </a:tc>
              </a:tr>
              <a:tr h="834225">
                <a:tc>
                  <a:txBody>
                    <a:bodyPr/>
                    <a:lstStyle/>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Random Forest Regressor</a:t>
                      </a:r>
                      <a:endParaRPr sz="1100">
                        <a:solidFill>
                          <a:schemeClr val="dk1"/>
                        </a:solidFill>
                        <a:latin typeface="Lato"/>
                        <a:ea typeface="Lato"/>
                        <a:cs typeface="Lato"/>
                        <a:sym typeface="Lato"/>
                      </a:endParaRPr>
                    </a:p>
                  </a:txBody>
                  <a:tcPr marT="63500" marB="63500" marR="63500" marL="63500">
                    <a:lnL cap="flat" cmpd="sng" w="6350">
                      <a:solidFill>
                        <a:schemeClr val="dk2"/>
                      </a:solidFill>
                      <a:prstDash val="solid"/>
                      <a:round/>
                      <a:headEnd len="sm" w="sm" type="none"/>
                      <a:tailEnd len="sm" w="sm" type="none"/>
                    </a:lnL>
                    <a:lnR cap="flat" cmpd="sng" w="6350">
                      <a:solidFill>
                        <a:schemeClr val="dk2"/>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chemeClr val="dk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solidFill>
                            <a:schemeClr val="dk1"/>
                          </a:solidFill>
                          <a:latin typeface="Lato"/>
                          <a:ea typeface="Lato"/>
                          <a:cs typeface="Lato"/>
                          <a:sym typeface="Lato"/>
                        </a:rPr>
                        <a:t>0.888</a:t>
                      </a:r>
                      <a:endParaRPr sz="1100">
                        <a:solidFill>
                          <a:schemeClr val="dk1"/>
                        </a:solidFill>
                        <a:latin typeface="Lato"/>
                        <a:ea typeface="Lato"/>
                        <a:cs typeface="Lato"/>
                        <a:sym typeface="Lato"/>
                      </a:endParaRPr>
                    </a:p>
                  </a:txBody>
                  <a:tcPr marT="63500" marB="63500" marR="63500" marL="63500">
                    <a:lnL cap="flat" cmpd="sng" w="6350">
                      <a:solidFill>
                        <a:schemeClr val="dk2"/>
                      </a:solidFill>
                      <a:prstDash val="solid"/>
                      <a:round/>
                      <a:headEnd len="sm" w="sm" type="none"/>
                      <a:tailEnd len="sm" w="sm" type="none"/>
                    </a:lnL>
                    <a:lnR cap="flat" cmpd="sng" w="6350">
                      <a:solidFill>
                        <a:schemeClr val="dk2"/>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chemeClr val="dk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solidFill>
                            <a:schemeClr val="dk1"/>
                          </a:solidFill>
                          <a:latin typeface="Lato"/>
                          <a:ea typeface="Lato"/>
                          <a:cs typeface="Lato"/>
                          <a:sym typeface="Lato"/>
                        </a:rPr>
                        <a:t>0.143</a:t>
                      </a:r>
                      <a:endParaRPr sz="1100">
                        <a:solidFill>
                          <a:schemeClr val="dk1"/>
                        </a:solidFill>
                        <a:latin typeface="Lato"/>
                        <a:ea typeface="Lato"/>
                        <a:cs typeface="Lato"/>
                        <a:sym typeface="Lato"/>
                      </a:endParaRPr>
                    </a:p>
                  </a:txBody>
                  <a:tcPr marT="63500" marB="63500" marR="63500" marL="63500">
                    <a:lnL cap="flat" cmpd="sng" w="6350">
                      <a:solidFill>
                        <a:schemeClr val="dk2"/>
                      </a:solidFill>
                      <a:prstDash val="solid"/>
                      <a:round/>
                      <a:headEnd len="sm" w="sm" type="none"/>
                      <a:tailEnd len="sm" w="sm" type="none"/>
                    </a:lnL>
                    <a:lnR cap="flat" cmpd="sng" w="6350">
                      <a:solidFill>
                        <a:schemeClr val="dk2"/>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chemeClr val="dk2"/>
                      </a:solidFill>
                      <a:prstDash val="solid"/>
                      <a:round/>
                      <a:headEnd len="sm" w="sm" type="none"/>
                      <a:tailEnd len="sm" w="sm" type="none"/>
                    </a:lnB>
                    <a:solidFill>
                      <a:schemeClr val="lt1"/>
                    </a:solidFill>
                  </a:tcPr>
                </a:tc>
              </a:tr>
            </a:tbl>
          </a:graphicData>
        </a:graphic>
      </p:graphicFrame>
      <p:sp>
        <p:nvSpPr>
          <p:cNvPr id="227" name="Google Shape;227;p30"/>
          <p:cNvSpPr txBox="1"/>
          <p:nvPr/>
        </p:nvSpPr>
        <p:spPr>
          <a:xfrm>
            <a:off x="161675" y="3804600"/>
            <a:ext cx="8773800" cy="939000"/>
          </a:xfrm>
          <a:prstGeom prst="rect">
            <a:avLst/>
          </a:prstGeom>
          <a:solidFill>
            <a:schemeClr val="lt1"/>
          </a:solidFill>
          <a:ln>
            <a:noFill/>
          </a:ln>
        </p:spPr>
        <p:txBody>
          <a:bodyPr anchorCtr="0" anchor="t" bIns="91425" lIns="91425" spcFirstLastPara="1" rIns="91425" wrap="square" tIns="91425">
            <a:spAutoFit/>
          </a:bodyPr>
          <a:lstStyle/>
          <a:p>
            <a:pPr indent="0" lvl="0" marL="57150" rtl="0" algn="l">
              <a:spcBef>
                <a:spcPts val="0"/>
              </a:spcBef>
              <a:spcAft>
                <a:spcPts val="0"/>
              </a:spcAft>
              <a:buNone/>
            </a:pPr>
            <a:r>
              <a:rPr b="1" lang="en" sz="1300" u="sng">
                <a:solidFill>
                  <a:schemeClr val="dk1"/>
                </a:solidFill>
                <a:latin typeface="Lato"/>
                <a:ea typeface="Lato"/>
                <a:cs typeface="Lato"/>
                <a:sym typeface="Lato"/>
              </a:rPr>
              <a:t>Best model: Random Forest Regressor</a:t>
            </a:r>
            <a:endParaRPr b="1" sz="1300">
              <a:solidFill>
                <a:schemeClr val="dk1"/>
              </a:solidFill>
              <a:latin typeface="Lato"/>
              <a:ea typeface="Lato"/>
              <a:cs typeface="Lato"/>
              <a:sym typeface="Lato"/>
            </a:endParaRPr>
          </a:p>
          <a:p>
            <a:pPr indent="-311150" lvl="0" marL="457200" rtl="0" algn="l">
              <a:spcBef>
                <a:spcPts val="1200"/>
              </a:spcBef>
              <a:spcAft>
                <a:spcPts val="0"/>
              </a:spcAft>
              <a:buClr>
                <a:schemeClr val="dk1"/>
              </a:buClr>
              <a:buSzPts val="1300"/>
              <a:buFont typeface="Lato"/>
              <a:buChar char="●"/>
            </a:pPr>
            <a:r>
              <a:rPr b="1" lang="en" sz="1300">
                <a:solidFill>
                  <a:schemeClr val="dk1"/>
                </a:solidFill>
                <a:latin typeface="Lato"/>
                <a:ea typeface="Lato"/>
                <a:cs typeface="Lato"/>
                <a:sym typeface="Lato"/>
              </a:rPr>
              <a:t>5-fold CV → R² score of 0.862 (highest)</a:t>
            </a:r>
            <a:endParaRPr b="1" sz="1300">
              <a:solidFill>
                <a:schemeClr val="dk1"/>
              </a:solidFill>
              <a:latin typeface="Lato"/>
              <a:ea typeface="Lato"/>
              <a:cs typeface="Lato"/>
              <a:sym typeface="Lato"/>
            </a:endParaRPr>
          </a:p>
          <a:p>
            <a:pPr indent="-311150" lvl="0" marL="457200" rtl="0" algn="l">
              <a:spcBef>
                <a:spcPts val="0"/>
              </a:spcBef>
              <a:spcAft>
                <a:spcPts val="0"/>
              </a:spcAft>
              <a:buClr>
                <a:schemeClr val="dk1"/>
              </a:buClr>
              <a:buSzPts val="1300"/>
              <a:buChar char="●"/>
            </a:pPr>
            <a:r>
              <a:rPr b="1" lang="en" sz="1300">
                <a:solidFill>
                  <a:schemeClr val="dk1"/>
                </a:solidFill>
                <a:latin typeface="Lato"/>
                <a:ea typeface="Lato"/>
                <a:cs typeface="Lato"/>
                <a:sym typeface="Lato"/>
              </a:rPr>
              <a:t>Hyperparameter tuning using GridSearchCV → R² score of 0.885 and MSE of 0.146</a:t>
            </a:r>
            <a:endParaRPr b="1" sz="1300">
              <a:solidFill>
                <a:schemeClr val="dk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1"/>
          <p:cNvSpPr txBox="1"/>
          <p:nvPr>
            <p:ph type="title"/>
          </p:nvPr>
        </p:nvSpPr>
        <p:spPr>
          <a:xfrm>
            <a:off x="300850" y="1352625"/>
            <a:ext cx="3300900" cy="168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General Takeaway</a:t>
            </a:r>
            <a:endParaRPr/>
          </a:p>
        </p:txBody>
      </p:sp>
      <p:sp>
        <p:nvSpPr>
          <p:cNvPr id="233" name="Google Shape;233;p31"/>
          <p:cNvSpPr txBox="1"/>
          <p:nvPr/>
        </p:nvSpPr>
        <p:spPr>
          <a:xfrm>
            <a:off x="3098250" y="474975"/>
            <a:ext cx="5815500" cy="4487100"/>
          </a:xfrm>
          <a:prstGeom prst="rect">
            <a:avLst/>
          </a:prstGeom>
          <a:solidFill>
            <a:schemeClr val="lt1"/>
          </a:solidFill>
          <a:ln>
            <a:noFill/>
          </a:ln>
        </p:spPr>
        <p:txBody>
          <a:bodyPr anchorCtr="0" anchor="t" bIns="91425" lIns="91425" spcFirstLastPara="1" rIns="91425" wrap="square" tIns="91425">
            <a:noAutofit/>
          </a:bodyPr>
          <a:lstStyle/>
          <a:p>
            <a:pPr indent="-323850" lvl="0" marL="457200" rtl="0" algn="l">
              <a:lnSpc>
                <a:spcPct val="150000"/>
              </a:lnSpc>
              <a:spcBef>
                <a:spcPts val="1200"/>
              </a:spcBef>
              <a:spcAft>
                <a:spcPts val="0"/>
              </a:spcAft>
              <a:buClr>
                <a:schemeClr val="dk1"/>
              </a:buClr>
              <a:buSzPts val="1500"/>
              <a:buFont typeface="Lato"/>
              <a:buChar char="●"/>
            </a:pPr>
            <a:r>
              <a:rPr b="1" lang="en" sz="1500">
                <a:solidFill>
                  <a:schemeClr val="dk1"/>
                </a:solidFill>
                <a:latin typeface="Lato"/>
                <a:ea typeface="Lato"/>
                <a:cs typeface="Lato"/>
                <a:sym typeface="Lato"/>
              </a:rPr>
              <a:t>Top contributors to happiness: Wealth, Social Support, Life Expectancy</a:t>
            </a:r>
            <a:endParaRPr b="1" sz="1500">
              <a:solidFill>
                <a:schemeClr val="dk1"/>
              </a:solidFill>
              <a:latin typeface="Lato"/>
              <a:ea typeface="Lato"/>
              <a:cs typeface="Lato"/>
              <a:sym typeface="Lato"/>
            </a:endParaRPr>
          </a:p>
          <a:p>
            <a:pPr indent="-323850" lvl="0" marL="457200" rtl="0" algn="l">
              <a:lnSpc>
                <a:spcPct val="150000"/>
              </a:lnSpc>
              <a:spcBef>
                <a:spcPts val="0"/>
              </a:spcBef>
              <a:spcAft>
                <a:spcPts val="0"/>
              </a:spcAft>
              <a:buClr>
                <a:schemeClr val="dk1"/>
              </a:buClr>
              <a:buSzPts val="1500"/>
              <a:buFont typeface="Lato"/>
              <a:buChar char="●"/>
            </a:pPr>
            <a:r>
              <a:rPr b="1" lang="en" sz="1500">
                <a:solidFill>
                  <a:schemeClr val="dk1"/>
                </a:solidFill>
                <a:latin typeface="Lato"/>
                <a:ea typeface="Lato"/>
                <a:cs typeface="Lato"/>
                <a:sym typeface="Lato"/>
              </a:rPr>
              <a:t>Trust in government had surprisingly little impact overall</a:t>
            </a:r>
            <a:endParaRPr b="1" sz="1500">
              <a:solidFill>
                <a:schemeClr val="dk1"/>
              </a:solidFill>
              <a:latin typeface="Lato"/>
              <a:ea typeface="Lato"/>
              <a:cs typeface="Lato"/>
              <a:sym typeface="Lato"/>
            </a:endParaRPr>
          </a:p>
          <a:p>
            <a:pPr indent="-323850" lvl="0" marL="457200" rtl="0" algn="l">
              <a:lnSpc>
                <a:spcPct val="150000"/>
              </a:lnSpc>
              <a:spcBef>
                <a:spcPts val="0"/>
              </a:spcBef>
              <a:spcAft>
                <a:spcPts val="0"/>
              </a:spcAft>
              <a:buClr>
                <a:schemeClr val="dk1"/>
              </a:buClr>
              <a:buSzPts val="1500"/>
              <a:buFont typeface="Lato"/>
              <a:buChar char="●"/>
            </a:pPr>
            <a:r>
              <a:rPr b="1" lang="en" sz="1500">
                <a:solidFill>
                  <a:schemeClr val="dk1"/>
                </a:solidFill>
                <a:latin typeface="Lato"/>
                <a:ea typeface="Lato"/>
                <a:cs typeface="Lato"/>
                <a:sym typeface="Lato"/>
              </a:rPr>
              <a:t>Initial plan to drop all NaNs caused major data loss — targeted imputation worked better</a:t>
            </a:r>
            <a:endParaRPr b="1" sz="1500">
              <a:solidFill>
                <a:schemeClr val="dk1"/>
              </a:solidFill>
              <a:latin typeface="Lato"/>
              <a:ea typeface="Lato"/>
              <a:cs typeface="Lato"/>
              <a:sym typeface="Lato"/>
            </a:endParaRPr>
          </a:p>
          <a:p>
            <a:pPr indent="-323850" lvl="0" marL="457200" rtl="0" algn="l">
              <a:lnSpc>
                <a:spcPct val="150000"/>
              </a:lnSpc>
              <a:spcBef>
                <a:spcPts val="0"/>
              </a:spcBef>
              <a:spcAft>
                <a:spcPts val="0"/>
              </a:spcAft>
              <a:buClr>
                <a:schemeClr val="dk1"/>
              </a:buClr>
              <a:buSzPts val="1500"/>
              <a:buFont typeface="Lato"/>
              <a:buChar char="●"/>
            </a:pPr>
            <a:r>
              <a:rPr b="1" lang="en" sz="1500">
                <a:solidFill>
                  <a:schemeClr val="dk1"/>
                </a:solidFill>
                <a:latin typeface="Lato"/>
                <a:ea typeface="Lato"/>
                <a:cs typeface="Lato"/>
                <a:sym typeface="Lato"/>
              </a:rPr>
              <a:t>ML model refinement showed that some features have minimal predictive power</a:t>
            </a:r>
            <a:endParaRPr b="1" sz="1500">
              <a:solidFill>
                <a:schemeClr val="dk1"/>
              </a:solidFill>
              <a:latin typeface="Lato"/>
              <a:ea typeface="Lato"/>
              <a:cs typeface="Lato"/>
              <a:sym typeface="Lato"/>
            </a:endParaRPr>
          </a:p>
          <a:p>
            <a:pPr indent="-323850" lvl="0" marL="457200" rtl="0" algn="l">
              <a:lnSpc>
                <a:spcPct val="150000"/>
              </a:lnSpc>
              <a:spcBef>
                <a:spcPts val="0"/>
              </a:spcBef>
              <a:spcAft>
                <a:spcPts val="0"/>
              </a:spcAft>
              <a:buClr>
                <a:schemeClr val="dk1"/>
              </a:buClr>
              <a:buSzPts val="1500"/>
              <a:buFont typeface="Lato"/>
              <a:buChar char="●"/>
            </a:pPr>
            <a:r>
              <a:rPr b="1" lang="en" sz="1500">
                <a:solidFill>
                  <a:schemeClr val="dk1"/>
                </a:solidFill>
                <a:latin typeface="Lato"/>
                <a:ea typeface="Lato"/>
                <a:cs typeface="Lato"/>
                <a:sym typeface="Lato"/>
              </a:rPr>
              <a:t>Combining data exploration and ML helped uncover both insightful patterns and practical predictors</a:t>
            </a:r>
            <a:endParaRPr b="1" sz="1500">
              <a:solidFill>
                <a:schemeClr val="dk1"/>
              </a:solidFill>
              <a:latin typeface="Lato"/>
              <a:ea typeface="Lato"/>
              <a:cs typeface="Lato"/>
              <a:sym typeface="Lato"/>
            </a:endParaRPr>
          </a:p>
          <a:p>
            <a:pPr indent="0" lvl="0" marL="457200" rtl="0" algn="l">
              <a:lnSpc>
                <a:spcPct val="150000"/>
              </a:lnSpc>
              <a:spcBef>
                <a:spcPts val="1200"/>
              </a:spcBef>
              <a:spcAft>
                <a:spcPts val="0"/>
              </a:spcAft>
              <a:buNone/>
            </a:pPr>
            <a:r>
              <a:t/>
            </a:r>
            <a:endParaRPr b="1" sz="1500">
              <a:solidFill>
                <a:schemeClr val="dk1"/>
              </a:solidFill>
              <a:latin typeface="Lato"/>
              <a:ea typeface="Lato"/>
              <a:cs typeface="Lato"/>
              <a:sym typeface="Lato"/>
            </a:endParaRPr>
          </a:p>
          <a:p>
            <a:pPr indent="0" lvl="0" marL="914400" rtl="0" algn="l">
              <a:lnSpc>
                <a:spcPct val="150000"/>
              </a:lnSpc>
              <a:spcBef>
                <a:spcPts val="1200"/>
              </a:spcBef>
              <a:spcAft>
                <a:spcPts val="1200"/>
              </a:spcAft>
              <a:buNone/>
            </a:pPr>
            <a:r>
              <a:t/>
            </a:r>
            <a:endParaRPr b="1" sz="1500">
              <a:solidFill>
                <a:schemeClr val="dk1"/>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